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a201fb46c3453c" /><Relationship Type="http://schemas.openxmlformats.org/officeDocument/2006/relationships/extended-properties" Target="/docProps/app.xml" Id="R91f4a6c3d1ff4ec9" /><Relationship Type="http://schemas.openxmlformats.org/officeDocument/2006/relationships/officeDocument" Target="/ppt/presentation.xml" Id="R63d617a7cca543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7a1622c4934bd1"/>
  </p:sldMasterIdLst>
  <p:notesMasterIdLst>
    <p:notesMasterId xmlns:r="http://schemas.openxmlformats.org/officeDocument/2006/relationships" r:id="R92ee8ea744004777"/>
  </p:notesMasterIdLst>
  <p:sldIdLst>
    <p:sldId xmlns:r="http://schemas.openxmlformats.org/officeDocument/2006/relationships" id="256" r:id="Re0a3e70e5a714266"/>
    <p:sldId xmlns:r="http://schemas.openxmlformats.org/officeDocument/2006/relationships" id="257" r:id="Rbca5b97ab7494cc1"/>
    <p:sldId xmlns:r="http://schemas.openxmlformats.org/officeDocument/2006/relationships" id="258" r:id="Receb5b614ef34127"/>
    <p:sldId xmlns:r="http://schemas.openxmlformats.org/officeDocument/2006/relationships" id="259" r:id="Rf1156497f9e04a19"/>
    <p:sldId xmlns:r="http://schemas.openxmlformats.org/officeDocument/2006/relationships" id="260" r:id="R1a8a953bd07642a8"/>
    <p:sldId xmlns:r="http://schemas.openxmlformats.org/officeDocument/2006/relationships" id="261" r:id="R26bb49c44c1240ff"/>
    <p:sldId xmlns:r="http://schemas.openxmlformats.org/officeDocument/2006/relationships" id="262" r:id="R98939d807bc84818"/>
    <p:sldId xmlns:r="http://schemas.openxmlformats.org/officeDocument/2006/relationships" id="263" r:id="Rd0f58723c3b24002"/>
    <p:sldId xmlns:r="http://schemas.openxmlformats.org/officeDocument/2006/relationships" id="264" r:id="R983e7a296348430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57114a34f34bfe" /><Relationship Type="http://schemas.openxmlformats.org/officeDocument/2006/relationships/slideMaster" Target="/ppt/slideMasters/slideMaster1.xml" Id="R1a7a1622c4934bd1" /><Relationship Type="http://schemas.openxmlformats.org/officeDocument/2006/relationships/notesMaster" Target="/ppt/notesMasters/notesMaster1.xml" Id="R92ee8ea744004777" /><Relationship Type="http://schemas.openxmlformats.org/officeDocument/2006/relationships/presProps" Target="/ppt/presProps.xml" Id="R4022e9c2326d49cc" /><Relationship Type="http://schemas.openxmlformats.org/officeDocument/2006/relationships/tableStyles" Target="/ppt/tableStyles.xml" Id="R0588b41a218240cf" /><Relationship Type="http://schemas.openxmlformats.org/officeDocument/2006/relationships/slide" Target="/ppt/slides/slide1.xml" Id="Re0a3e70e5a714266" /><Relationship Type="http://schemas.openxmlformats.org/officeDocument/2006/relationships/slide" Target="/ppt/slides/slide2.xml" Id="Rbca5b97ab7494cc1" /><Relationship Type="http://schemas.openxmlformats.org/officeDocument/2006/relationships/slide" Target="/ppt/slides/slide3.xml" Id="Receb5b614ef34127" /><Relationship Type="http://schemas.openxmlformats.org/officeDocument/2006/relationships/slide" Target="/ppt/slides/slide4.xml" Id="Rf1156497f9e04a19" /><Relationship Type="http://schemas.openxmlformats.org/officeDocument/2006/relationships/slide" Target="/ppt/slides/slide5.xml" Id="R1a8a953bd07642a8" /><Relationship Type="http://schemas.openxmlformats.org/officeDocument/2006/relationships/slide" Target="/ppt/slides/slide6.xml" Id="R26bb49c44c1240ff" /><Relationship Type="http://schemas.openxmlformats.org/officeDocument/2006/relationships/slide" Target="/ppt/slides/slide7.xml" Id="R98939d807bc84818" /><Relationship Type="http://schemas.openxmlformats.org/officeDocument/2006/relationships/slide" Target="/ppt/slides/slide8.xml" Id="Rd0f58723c3b24002" /><Relationship Type="http://schemas.openxmlformats.org/officeDocument/2006/relationships/slide" Target="/ppt/slides/slide9.xml" Id="R983e7a29634843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b0049dae2648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Lingan Clean Technical">
      <a:dk1>
        <a:srgbClr val="000000"/>
      </a:dk1>
      <a:lt1>
        <a:srgbClr val="FFFFFF"/>
      </a:lt1>
      <a:dk2>
        <a:srgbClr val="0F2742"/>
      </a:dk2>
      <a:lt2>
        <a:srgbClr val="D6E3EC"/>
      </a:lt2>
      <a:accent1>
        <a:srgbClr val="1769AA"/>
      </a:accent1>
      <a:accent2>
        <a:srgbClr val="0F9F8F"/>
      </a:accent2>
      <a:accent3>
        <a:srgbClr val="F59E0B"/>
      </a:accent3>
      <a:accent4>
        <a:srgbClr val="DF3B30"/>
      </a:accent4>
      <a:accent5>
        <a:srgbClr val="6D5BD0"/>
      </a:accent5>
      <a:accent6>
        <a:srgbClr val="16A34A"/>
      </a:accent6>
      <a:hlink>
        <a:srgbClr val="1769AA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ingan Clean Technic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9af68055c34b0b" /><Relationship Type="http://schemas.openxmlformats.org/officeDocument/2006/relationships/notesMaster" Target="/ppt/notesMasters/notesMaster1.xml" Id="R4c97ef038b0549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712fa65c6d4493" /><Relationship Type="http://schemas.openxmlformats.org/officeDocument/2006/relationships/notesMaster" Target="/ppt/notesMasters/notesMaster1.xml" Id="R6021a88808a344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f8cbe64720450c" /><Relationship Type="http://schemas.openxmlformats.org/officeDocument/2006/relationships/notesMaster" Target="/ppt/notesMasters/notesMaster1.xml" Id="R0f5ada8aed5347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6e3770e72940a4" /><Relationship Type="http://schemas.openxmlformats.org/officeDocument/2006/relationships/notesMaster" Target="/ppt/notesMasters/notesMaster1.xml" Id="Raf2b24530df54d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f904a580fc4e1c" /><Relationship Type="http://schemas.openxmlformats.org/officeDocument/2006/relationships/notesMaster" Target="/ppt/notesMasters/notesMaster1.xml" Id="Rcabfbfc85dec4c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49c4f339524448" /><Relationship Type="http://schemas.openxmlformats.org/officeDocument/2006/relationships/notesMaster" Target="/ppt/notesMasters/notesMaster1.xml" Id="Rdc9cbcfcdee24f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2697e173e54164" /><Relationship Type="http://schemas.openxmlformats.org/officeDocument/2006/relationships/notesMaster" Target="/ppt/notesMasters/notesMaster1.xml" Id="R4bcedd1b06e242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09805cd79544c5" /><Relationship Type="http://schemas.openxmlformats.org/officeDocument/2006/relationships/notesMaster" Target="/ppt/notesMasters/notesMaster1.xml" Id="Ref8dd5b57a824c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0e8e76b39446fb" /><Relationship Type="http://schemas.openxmlformats.org/officeDocument/2006/relationships/notesMaster" Target="/ppt/notesMasters/notesMaster1.xml" Id="R245515e8a1af49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开场先用一句话定题：聆安 Watch 面向听障用户，把鸣笛、警笛等危险声在 ESP32-S3 手表端本地识别，并通过屏幕和震动提醒用户。Hermes 只是扩展的随身任务辅助入口，比赛主线是嵌入式边缘 AI 安全提醒。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第二页讲用户痛点。重点不是展示能识别几个声音，而是解释为什么要把危险声变成稳定提醒：听障用户需要看得见、感受得到、并且断网也能工作的安全提示。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第三页讲系统架构。评委最关心边界：ESP32-S3 手表端做实时安全闭环；云服务端做补充通知和任务转接；Hermes 作为辅助交互，不影响本地危险识别。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第四页讲 AI 落地链条。训练和离线评估在 PC 端完成，部署时导出为 ESP-DL 可加载的 espdl 文件。手表端输入 1 秒 16kHz 音频，提取 Fbank 特征，用 int8 模型输出安全或危险判断。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第五页讲产品化提醒。这里要强调不是单窗模型一响就报警，而是可疑、正式告警、冷却的状态机。这样既能及时提醒，也能减少误报打扰。三档灵敏度、强震节奏和后台安全监听是目前已经做进固件的能力。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第六页用数据说服评委。离线测试集 131 条，当前模型准确率 96.18%，危险召回 93.83%，background 误报率为 0。板端方面，Fbank 和推理合计 86 毫秒左右，模型 31.4KB，证明它适合 ESP32-S3 资源预算。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第七页是工程证据页。当前 PPT 先放已完成的 PCB 顶层和底层布局，以及可验证的板端闭环证据。录制最终视频时，这页最适合替换或叠加真实组图：整机实物、危险提醒界面、震动视频帧、SD 文件和手机通知栏。不要展示内部准备内容，也不要展示未验证的电脑端自动执行。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第八页只用三十秒讲 Hermes。它不是本地危险识别模块，而是个人 AI Agent 服务。手表作为随身输入和回执端，让用户离开电脑后也能提交任务和接收摘要。这样能体现扩展价值，同时不抢嵌入式边缘 AI 的主线。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最后一页回到用户价值。总结三个创新：第一是端侧安全闭环，第二是状态机和灵敏度降低误报打扰，第三是 SD 样本、手机通知和 Hermes 辅助构成可持续工程闭环。收尾时强调它服务的是听障用户真实场景，而不是单纯展示模型。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887c24c6647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6761d5f96c45d6" /><Relationship Type="http://schemas.openxmlformats.org/officeDocument/2006/relationships/slideLayout" Target="/ppt/slideLayouts/slideLayout1.xml" Id="R60f1722707054d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f1722707054d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Lingan Clean Technical">
      <a:dk1>
        <a:srgbClr val="000000"/>
      </a:dk1>
      <a:lt1>
        <a:srgbClr val="FFFFFF"/>
      </a:lt1>
      <a:dk2>
        <a:srgbClr val="0F2742"/>
      </a:dk2>
      <a:lt2>
        <a:srgbClr val="D6E3EC"/>
      </a:lt2>
      <a:accent1>
        <a:srgbClr val="1769AA"/>
      </a:accent1>
      <a:accent2>
        <a:srgbClr val="0F9F8F"/>
      </a:accent2>
      <a:accent3>
        <a:srgbClr val="F59E0B"/>
      </a:accent3>
      <a:accent4>
        <a:srgbClr val="DF3B30"/>
      </a:accent4>
      <a:accent5>
        <a:srgbClr val="6D5BD0"/>
      </a:accent5>
      <a:accent6>
        <a:srgbClr val="16A34A"/>
      </a:accent6>
      <a:hlink>
        <a:srgbClr val="1769AA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ingan Clean Technic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887f9eae5412c" /><Relationship Type="http://schemas.openxmlformats.org/officeDocument/2006/relationships/notesSlide" Target="/ppt/notesSlides/notesSlide1.xml" Id="Rbba457f4258f4c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39f66c1c94583" /><Relationship Type="http://schemas.openxmlformats.org/officeDocument/2006/relationships/notesSlide" Target="/ppt/notesSlides/notesSlide2.xml" Id="R6c31b7dfeef143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2db19ebe9412f" /><Relationship Type="http://schemas.openxmlformats.org/officeDocument/2006/relationships/image" Target="/ppt/media/image.png" Id="Rf34ac4450e104153" /><Relationship Type="http://schemas.openxmlformats.org/officeDocument/2006/relationships/notesSlide" Target="/ppt/notesSlides/notesSlide3.xml" Id="Rd8d11d13cfed43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8bf31d97e4d13" /><Relationship Type="http://schemas.openxmlformats.org/officeDocument/2006/relationships/image" Target="/ppt/media/image2.png" Id="Ra88ca292cb3348f9" /><Relationship Type="http://schemas.openxmlformats.org/officeDocument/2006/relationships/notesSlide" Target="/ppt/notesSlides/notesSlide4.xml" Id="R42864e992f204c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a252f184d4b41" /><Relationship Type="http://schemas.openxmlformats.org/officeDocument/2006/relationships/image" Target="/ppt/media/image3.png" Id="R41f4b7884c384896" /><Relationship Type="http://schemas.openxmlformats.org/officeDocument/2006/relationships/notesSlide" Target="/ppt/notesSlides/notesSlide5.xml" Id="R0f4ef846432d43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872905ee544e3" /><Relationship Type="http://schemas.openxmlformats.org/officeDocument/2006/relationships/notesSlide" Target="/ppt/notesSlides/notesSlide6.xml" Id="Rffaa2536b4c445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6083e7c714b4a" /><Relationship Type="http://schemas.openxmlformats.org/officeDocument/2006/relationships/image" Target="/ppt/media/image4.png" Id="R95efd9b9751d472f" /><Relationship Type="http://schemas.openxmlformats.org/officeDocument/2006/relationships/image" Target="/ppt/media/image5.png" Id="R1dc000a2385c4275" /><Relationship Type="http://schemas.openxmlformats.org/officeDocument/2006/relationships/notesSlide" Target="/ppt/notesSlides/notesSlide7.xml" Id="R2b35acb9ef6a43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ead1c335c49c8" /><Relationship Type="http://schemas.openxmlformats.org/officeDocument/2006/relationships/image" Target="/ppt/media/image6.png" Id="Rfd4a1ac512c64ee7" /><Relationship Type="http://schemas.openxmlformats.org/officeDocument/2006/relationships/notesSlide" Target="/ppt/notesSlides/notesSlide8.xml" Id="Rb1904ea1ae2f42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c8085771d4261" /><Relationship Type="http://schemas.openxmlformats.org/officeDocument/2006/relationships/notesSlide" Target="/ppt/notesSlides/notesSlide9.xml" Id="R2750fd18827344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6DA942-7FE6-413C-A56D-97CCC471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C8"/>
          </a:solidFill>
          <a:ln xmlns:a="http://schemas.openxmlformats.org/drawingml/2006/main" w="0">
            <a:solidFill>
              <a:srgbClr val="08A6C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B2131-C833-44BC-8E98-EED4E5CD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500" b="1">
                <a:solidFill>
                  <a:srgbClr val="0F2742"/>
                </a:solidFill>
              </a:defRPr>
            </a:pPr>
            <a:r>
              <a:rPr sz="4500" b="1">
                <a:solidFill>
                  <a:srgbClr val="0F2742"/>
                </a:solidFill>
              </a:rPr>
              <a:t>聆安 Watch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F4443-2C9F-44E6-ADE1-E4E42121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32238"/>
                </a:solidFill>
              </a:defRPr>
            </a:pPr>
            <a:r>
              <a:rPr sz="2550" b="1">
                <a:solidFill>
                  <a:srgbClr val="132238"/>
                </a:solidFill>
              </a:rPr>
              <a:t>面向听障人群的边缘 AI 安全提醒手表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C4D72-C8EB-460F-B9B0-AD82E7D8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26579"/>
                </a:solidFill>
              </a:defRPr>
            </a:pPr>
            <a:r>
              <a:rPr sz="1575" b="0">
                <a:solidFill>
                  <a:srgbClr val="526579"/>
                </a:solidFill>
              </a:rPr>
              <a:t>全国大学生嵌入式设计大赛 / 嵌入式边缘 AI 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4DC8F-7209-476D-AFB3-73E59480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2573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7FB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ESP32-S3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B854B-140A-4B7E-BEC8-3BD392E5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62500"/>
            <a:ext cx="1809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7FB"/>
          </a:solidFill>
          <a:ln xmlns:a="http://schemas.openxmlformats.org/drawingml/2006/main" w="11430">
            <a:solidFill>
              <a:srgbClr val="0F9F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9F8F"/>
                </a:solidFill>
              </a:defRPr>
            </a:pPr>
            <a:r>
              <a:rPr sz="1200" b="1">
                <a:solidFill>
                  <a:srgbClr val="0F9F8F"/>
                </a:solidFill>
              </a:rPr>
              <a:t>ESP-DL 端侧识别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25432-1E04-40DA-B5A9-FE7399EE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62500"/>
            <a:ext cx="1809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7F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屏幕 + 震动提醒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A6C3B-4645-4F9A-8FB9-2DD23709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62500"/>
            <a:ext cx="1809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7FB"/>
          </a:solidFill>
          <a:ln xmlns:a="http://schemas.openxmlformats.org/drawingml/2006/main" w="11430">
            <a:solidFill>
              <a:srgbClr val="6D5B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5BD0"/>
                </a:solidFill>
              </a:defRPr>
            </a:pPr>
            <a:r>
              <a:rPr sz="1200" b="1">
                <a:solidFill>
                  <a:srgbClr val="6D5BD0"/>
                </a:solidFill>
              </a:rPr>
              <a:t>Hermes 辅助交互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A992A-21A8-4471-9AB1-95E1EEC1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90600"/>
            <a:ext cx="3238500" cy="4095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7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C6C24-145F-4FAD-B4EE-F9840883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50" b="1">
                <a:solidFill>
                  <a:srgbClr val="0F2742"/>
                </a:solidFill>
              </a:defRPr>
            </a:pPr>
            <a:r>
              <a:rPr sz="2550" b="1">
                <a:solidFill>
                  <a:srgbClr val="0F2742"/>
                </a:solidFill>
              </a:rPr>
              <a:t>本地安全闭环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FFF50-C6A0-46A1-A389-4FD1BA53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000" b="1">
                <a:solidFill>
                  <a:srgbClr val="08A6C8"/>
                </a:solidFill>
              </a:defRPr>
            </a:pPr>
            <a:r>
              <a:rPr sz="3000" b="1">
                <a:solidFill>
                  <a:srgbClr val="08A6C8"/>
                </a:solidFill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15D0C-F614-4EFF-A028-B7512250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50" b="1">
                <a:solidFill>
                  <a:srgbClr val="0F2742"/>
                </a:solidFill>
              </a:defRPr>
            </a:pPr>
            <a:r>
              <a:rPr sz="2550" b="1">
                <a:solidFill>
                  <a:srgbClr val="0F2742"/>
                </a:solidFill>
              </a:rPr>
              <a:t>随身任务辅助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21959-CB01-4E0A-8B63-D3400594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聆安 Watch / 嵌入式边缘 AI 应用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56909-5935-47B1-BFE2-0D8DC1DE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732773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F09127-152B-4FA5-B0EF-C31F8BD4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0F2742"/>
                </a:solidFill>
              </a:defRPr>
            </a:pPr>
            <a:r>
              <a:rPr sz="2850" b="1">
                <a:solidFill>
                  <a:srgbClr val="0F2742"/>
                </a:solidFill>
              </a:rPr>
              <a:t>听障用户需要的不是声音标签，而是及时可感知的提醒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B15DC-0251-475B-BCD7-5CD5E441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设计目标：低延迟、低打扰、断网可用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EAB1B-3A0B-4A25-AB02-9B27CE44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3EC"/>
          </a:solidFill>
          <a:ln xmlns:a="http://schemas.openxmlformats.org/drawingml/2006/main" w="0">
            <a:solidFill>
              <a:srgbClr val="D6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A9990-F9FC-4887-8419-3386DC53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聆安 Watch / 嵌入式边缘 AI 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85700-C7B9-4E92-8652-70832871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88626-9D19-48D5-BE69-7C1CA886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3286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CB4AF-3552-4DAA-8882-3209B17B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769AA"/>
                </a:solidFill>
              </a:defRPr>
            </a:pPr>
            <a:r>
              <a:rPr sz="2100" b="1">
                <a:solidFill>
                  <a:srgbClr val="1769AA"/>
                </a:solidFill>
              </a:rPr>
              <a:t>日常出行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8C0CE-EB31-4415-B7C8-5B99A7B7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32238"/>
                </a:solidFill>
              </a:defRPr>
            </a:pPr>
            <a:r>
              <a:rPr sz="1575" b="0">
                <a:solidFill>
                  <a:srgbClr val="132238"/>
                </a:solidFill>
              </a:rPr>
              <a:t>• 车辆鸣笛接近时缺少声源线索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32238"/>
                </a:solidFill>
              </a:defRPr>
            </a:pPr>
            <a:r>
              <a:rPr sz="1575" b="0">
                <a:solidFill>
                  <a:srgbClr val="132238"/>
                </a:solidFill>
              </a:rPr>
              <a:t>• 提示必须足够快，不能依赖手机前台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B48D5-5EA5-4843-BA43-5AB23969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57375"/>
            <a:ext cx="3286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3C51C-2EB6-40B1-8B55-6F981FCE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43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0F9F8F"/>
                </a:solidFill>
              </a:defRPr>
            </a:pPr>
            <a:r>
              <a:rPr sz="2100" b="1">
                <a:solidFill>
                  <a:srgbClr val="0F9F8F"/>
                </a:solidFill>
              </a:rPr>
              <a:t>公共场所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2A507-6A06-4F60-A0FF-1C48E542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24150"/>
            <a:ext cx="266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32238"/>
                </a:solidFill>
              </a:defRPr>
            </a:pPr>
            <a:r>
              <a:rPr sz="1575" b="0">
                <a:solidFill>
                  <a:srgbClr val="132238"/>
                </a:solidFill>
              </a:rPr>
              <a:t>• 警笛等高价值声音需要快速转成视觉/触觉提示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32238"/>
                </a:solidFill>
              </a:defRPr>
            </a:pPr>
            <a:r>
              <a:rPr sz="1575" b="0">
                <a:solidFill>
                  <a:srgbClr val="132238"/>
                </a:solidFill>
              </a:rPr>
              <a:t>• 误报过多会让用户关闭功能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73FDB-F408-4300-8185-47D7740F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57375"/>
            <a:ext cx="2857500" cy="30003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F4D5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E9702-1D61-44B0-B60B-36CAF833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设计判断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B1A6A-2336-493C-ABA1-61F98699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266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75" b="0">
                <a:solidFill>
                  <a:srgbClr val="132238"/>
                </a:solidFill>
              </a:defRPr>
            </a:pPr>
            <a:r>
              <a:rPr sz="1575" b="0">
                <a:solidFill>
                  <a:srgbClr val="132238"/>
                </a:solidFill>
              </a:rPr>
              <a:t>核心安全提醒必须在手表端闭环；云端、手机通知和 Hermes 只能增强体验，不能成为本地告警的前置条件。</a:t>
            </a:r>
          </a:p>
        </p:txBody>
      </p:sp>
    </p:spTree>
    <p:extLst>
      <p:ext uri="{BB962C8B-B14F-4D97-AF65-F5344CB8AC3E}">
        <p14:creationId xmlns:p14="http://schemas.microsoft.com/office/powerpoint/2010/main" val="1877521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D42549-5AD9-4529-B574-7C73C758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0F2742"/>
                </a:solidFill>
              </a:defRPr>
            </a:pPr>
            <a:r>
              <a:rPr sz="2850" b="1">
                <a:solidFill>
                  <a:srgbClr val="0F2742"/>
                </a:solidFill>
              </a:rPr>
              <a:t>系统分成三条链路，本地安全链路优先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E9997-937F-4249-9FDD-A671390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手表端负责采集、推理、状态机和提醒；云服务与 Hermes 做补充能力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EFBD5-A32E-45CA-A74E-9F53E306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3EC"/>
          </a:solidFill>
          <a:ln xmlns:a="http://schemas.openxmlformats.org/drawingml/2006/main" w="0">
            <a:solidFill>
              <a:srgbClr val="D6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0B4EF-B139-412B-B01C-A2E9EA2D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聆安 Watch / 嵌入式边缘 AI 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3C1D5-DFC4-474E-8C1F-F1D3D222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03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ac4450e104153"/>
          <a:stretch xmlns:a="http://schemas.openxmlformats.org/drawingml/2006/main"/>
        </p:blipFill>
        <p:spPr>
          <a:xfrm xmlns:a="http://schemas.openxmlformats.org/drawingml/2006/main">
            <a:off x="687917" y="1638300"/>
            <a:ext cx="7044267" cy="3962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47AC3-0FA2-474C-9193-6834A182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3048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BFF"/>
          </a:solidFill>
          <a:ln xmlns:a="http://schemas.openxmlformats.org/drawingml/2006/main" w="9525">
            <a:solidFill>
              <a:srgbClr val="D6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F58D8-A2DA-417E-9871-F769B8C0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66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769AA"/>
                </a:solidFill>
              </a:defRPr>
            </a:pPr>
            <a:r>
              <a:rPr sz="1800" b="1">
                <a:solidFill>
                  <a:srgbClr val="1769AA"/>
                </a:solidFill>
              </a:rPr>
              <a:t>本地安全闭环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0CA49-1077-416D-A9EC-2631A0F4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26579"/>
                </a:solidFill>
              </a:defRPr>
            </a:pPr>
            <a:r>
              <a:rPr sz="1275" b="0">
                <a:solidFill>
                  <a:srgbClr val="526579"/>
                </a:solidFill>
              </a:rPr>
              <a:t>音频采集、ESP-DL 推理、风险状态机、屏幕与震动提醒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64163-7865-4CAE-9A2B-B7AA87E1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3048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9FFFB"/>
          </a:solidFill>
          <a:ln xmlns:a="http://schemas.openxmlformats.org/drawingml/2006/main" w="9525">
            <a:solidFill>
              <a:srgbClr val="D6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71E75-DEBC-4204-BA55-BC1AFCE5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81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F9F8F"/>
                </a:solidFill>
              </a:defRPr>
            </a:pPr>
            <a:r>
              <a:rPr sz="1800" b="1">
                <a:solidFill>
                  <a:srgbClr val="0F9F8F"/>
                </a:solidFill>
              </a:rPr>
              <a:t>远程补充告警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95475-D160-45A5-B134-5F662C8F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814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26579"/>
                </a:solidFill>
              </a:defRPr>
            </a:pPr>
            <a:r>
              <a:rPr sz="1275" b="0">
                <a:solidFill>
                  <a:srgbClr val="526579"/>
                </a:solidFill>
              </a:rPr>
              <a:t>危险事件异步上报云服务端，再推送到手机通知栏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942AE-9373-4E8D-AEF9-D4F3A610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3048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9FF"/>
          </a:solidFill>
          <a:ln xmlns:a="http://schemas.openxmlformats.org/drawingml/2006/main" w="9525">
            <a:solidFill>
              <a:srgbClr val="D6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56D9F-4DFB-410D-80C0-0907DF57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958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D5BD0"/>
                </a:solidFill>
              </a:defRPr>
            </a:pPr>
            <a:r>
              <a:rPr sz="1800" b="1">
                <a:solidFill>
                  <a:srgbClr val="6D5BD0"/>
                </a:solidFill>
              </a:rPr>
              <a:t>Hermes 辅助交互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8863D-87D9-4962-AE3D-1255BF77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958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26579"/>
                </a:solidFill>
              </a:defRPr>
            </a:pPr>
            <a:r>
              <a:rPr sz="1275" b="0">
                <a:solidFill>
                  <a:srgbClr val="526579"/>
                </a:solidFill>
              </a:rPr>
              <a:t>手表作为个人 AI Agent 的随身输入与回执端</a:t>
            </a:r>
          </a:p>
        </p:txBody>
      </p:sp>
    </p:spTree>
    <p:extLst>
      <p:ext uri="{BB962C8B-B14F-4D97-AF65-F5344CB8AC3E}">
        <p14:creationId xmlns:p14="http://schemas.microsoft.com/office/powerpoint/2010/main" val="7070832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05A23F-C70A-4152-88C6-EE7FD843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0F2742"/>
                </a:solidFill>
              </a:defRPr>
            </a:pPr>
            <a:r>
              <a:rPr sz="2850" b="1">
                <a:solidFill>
                  <a:srgbClr val="0F2742"/>
                </a:solidFill>
              </a:rPr>
              <a:t>端侧危险声识别跑在 ESP32-S3 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63179-04E7-472E-B860-E95B986E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PC 端训练评估，手表端以 .espdl 格式进行 ESP-DL int8 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4F789-0C02-4024-AF86-4D4FD4EA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3EC"/>
          </a:solidFill>
          <a:ln xmlns:a="http://schemas.openxmlformats.org/drawingml/2006/main" w="0">
            <a:solidFill>
              <a:srgbClr val="D6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ECC25-4252-4D64-BC70-AA5691B5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聆安 Watch / 嵌入式边缘 AI 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65D24-1896-4641-9B76-0C51974D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04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ca292cb3348f9"/>
          <a:stretch xmlns:a="http://schemas.openxmlformats.org/drawingml/2006/main"/>
        </p:blipFill>
        <p:spPr>
          <a:xfrm xmlns:a="http://schemas.openxmlformats.org/drawingml/2006/main">
            <a:off x="969433" y="1676400"/>
            <a:ext cx="6671733" cy="3752850"/>
          </a:xfrm>
          <a:prstGeom xmlns:a="http://schemas.openxmlformats.org/drawingml/2006/main" prst="roundRect">
            <a:avLst>
              <a:gd name="adj" fmla="val 304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E871E-0130-442C-9463-A8D837AA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95450"/>
            <a:ext cx="23336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9E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87167-73BB-4104-AAA0-6C2A0F56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866900"/>
            <a:ext cx="1990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25" b="1">
                <a:solidFill>
                  <a:srgbClr val="1769AA"/>
                </a:solidFill>
              </a:defRPr>
            </a:pPr>
            <a:r>
              <a:rPr sz="2325" b="1">
                <a:solidFill>
                  <a:srgbClr val="1769AA"/>
                </a:solidFill>
              </a:rPr>
              <a:t>1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17590-8AE4-408F-BC68-74D32BED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43150"/>
            <a:ext cx="2028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579"/>
                </a:solidFill>
              </a:defRPr>
            </a:pPr>
            <a:r>
              <a:rPr sz="1125" b="0">
                <a:solidFill>
                  <a:srgbClr val="526579"/>
                </a:solidFill>
              </a:rPr>
              <a:t>音频窗口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74A26-4EEF-4045-97AA-F551B77F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23336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9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2D71B-E4EB-4478-849D-E39510E6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24200"/>
            <a:ext cx="1990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25" b="1">
                <a:solidFill>
                  <a:srgbClr val="0F9F8F"/>
                </a:solidFill>
              </a:defRPr>
            </a:pPr>
            <a:r>
              <a:rPr sz="2325" b="1">
                <a:solidFill>
                  <a:srgbClr val="0F9F8F"/>
                </a:solidFill>
              </a:rPr>
              <a:t>16 kHz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E9E4D-B938-4EA1-B39C-F2A54C58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600450"/>
            <a:ext cx="2028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579"/>
                </a:solidFill>
              </a:defRPr>
            </a:pPr>
            <a:r>
              <a:rPr sz="1125" b="0">
                <a:solidFill>
                  <a:srgbClr val="526579"/>
                </a:solidFill>
              </a:rPr>
              <a:t>单声道采样率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22DB0-5E0B-459D-8F05-36188823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10050"/>
            <a:ext cx="23336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9E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F58E3-455A-41CE-B5BA-400281D3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381500"/>
            <a:ext cx="1990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25" b="1">
                <a:solidFill>
                  <a:srgbClr val="F59E0B"/>
                </a:solidFill>
              </a:defRPr>
            </a:pPr>
            <a:r>
              <a:rPr sz="2325" b="1">
                <a:solidFill>
                  <a:srgbClr val="F59E0B"/>
                </a:solidFill>
              </a:rPr>
              <a:t>Fbank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F679B-845C-467C-A1D7-BD054446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857750"/>
            <a:ext cx="2028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579"/>
                </a:solidFill>
              </a:defRPr>
            </a:pPr>
            <a:r>
              <a:rPr sz="1125" b="0">
                <a:solidFill>
                  <a:srgbClr val="526579"/>
                </a:solidFill>
              </a:rPr>
              <a:t>40 mel bins / 约 98 frames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B9676-E927-45C2-B61E-77D27017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132238"/>
                </a:solidFill>
              </a:defRPr>
            </a:pPr>
            <a:r>
              <a:rPr sz="1500" b="0">
                <a:solidFill>
                  <a:srgbClr val="132238"/>
                </a:solidFill>
              </a:rPr>
              <a:t>当前部署模型为 DSCNNTiny 二分类危险声识别模型，输出 non-danger / danger；当前验证范围覆盖鸣笛与警笛。</a:t>
            </a:r>
          </a:p>
        </p:txBody>
      </p:sp>
    </p:spTree>
    <p:extLst>
      <p:ext uri="{BB962C8B-B14F-4D97-AF65-F5344CB8AC3E}">
        <p14:creationId xmlns:p14="http://schemas.microsoft.com/office/powerpoint/2010/main" val="1121163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A2A122-84EC-4E52-A3B4-837A5BF5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0F2742"/>
                </a:solidFill>
              </a:defRPr>
            </a:pPr>
            <a:r>
              <a:rPr sz="2850" b="1">
                <a:solidFill>
                  <a:srgbClr val="0F2742"/>
                </a:solidFill>
              </a:rPr>
              <a:t>风险状态机把模型输出变成稳定产品状态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9E127-4C6A-4CFC-B559-CFE8D99D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单个窗口不直接强提醒，经过连续确认、保持和冷却降低误报打扰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6A291-7D01-47B8-A0E5-4D0C99EB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3EC"/>
          </a:solidFill>
          <a:ln xmlns:a="http://schemas.openxmlformats.org/drawingml/2006/main" w="0">
            <a:solidFill>
              <a:srgbClr val="D6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80DF4-EC18-4A68-898E-BA7AECA4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聆安 Watch / 嵌入式边缘 AI 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300C7-0DA0-4ACF-A139-F9F60EE9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05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4b7884c384896"/>
          <a:stretch xmlns:a="http://schemas.openxmlformats.org/drawingml/2006/main"/>
        </p:blipFill>
        <p:spPr>
          <a:xfrm xmlns:a="http://schemas.openxmlformats.org/drawingml/2006/main">
            <a:off x="838200" y="1909167"/>
            <a:ext cx="5810250" cy="3268266"/>
          </a:xfrm>
          <a:prstGeom xmlns:a="http://schemas.openxmlformats.org/drawingml/2006/main" prst="roundRect">
            <a:avLst>
              <a:gd name="adj" fmla="val 297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1DCDB-F64D-478E-83C6-61E01256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57350"/>
            <a:ext cx="3429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BFF"/>
          </a:solidFill>
          <a:ln xmlns:a="http://schemas.openxmlformats.org/drawingml/2006/main" w="9525">
            <a:solidFill>
              <a:srgbClr val="D6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A3B34-D52E-4F4D-9F17-ABBBD57C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28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769AA"/>
                </a:solidFill>
              </a:defRPr>
            </a:pPr>
            <a:r>
              <a:rPr sz="1800" b="1">
                <a:solidFill>
                  <a:srgbClr val="1769AA"/>
                </a:solidFill>
              </a:rPr>
              <a:t>三档灵敏度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C50D4-5010-4AF5-96D8-78D74A02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09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保守 / 标准 / 敏感：0.95 / 0.90 / 0.85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76FC1-406C-4D74-AE6D-3DCDD2E0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429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F2D7A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DA277-3AEC-40D9-BF4D-ED698D14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28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首次强震提醒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6636A-4F5D-419F-9FB0-4EDD3E41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09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220 ms - 90 ms - 220 ms，独立任务执行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4D804-3207-4BA3-A0F0-8E8561D5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57650"/>
            <a:ext cx="3429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FF9"/>
          </a:solidFill>
          <a:ln xmlns:a="http://schemas.openxmlformats.org/drawingml/2006/main" w="9525">
            <a:solidFill>
              <a:srgbClr val="CFE9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0EC5C-43BC-47E5-99E2-B3449D64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29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6A34A"/>
                </a:solidFill>
              </a:defRPr>
            </a:pPr>
            <a:r>
              <a:rPr sz="1800" b="1">
                <a:solidFill>
                  <a:srgbClr val="16A34A"/>
                </a:solidFill>
              </a:rPr>
              <a:t>后台安全监听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E2621-340D-4A25-A356-BA901999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10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按开关、电源预算和麦克风占用自动启停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F3081-4297-4693-AC0A-D14301A7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578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0F2742"/>
                </a:solidFill>
              </a:defRPr>
            </a:pPr>
            <a:r>
              <a:rPr sz="1500" b="0">
                <a:solidFill>
                  <a:srgbClr val="0F2742"/>
                </a:solidFill>
              </a:rPr>
              <a:t>实测流转：MONITORING -&gt; SUSPICIOUS -&gt; ALERTING -&gt; COOLDOWN -&gt; MONITORING</a:t>
            </a:r>
          </a:p>
        </p:txBody>
      </p:sp>
    </p:spTree>
    <p:extLst>
      <p:ext uri="{BB962C8B-B14F-4D97-AF65-F5344CB8AC3E}">
        <p14:creationId xmlns:p14="http://schemas.microsoft.com/office/powerpoint/2010/main" val="4802700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1993AE-B516-4610-AF42-71447489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0F2742"/>
                </a:solidFill>
              </a:defRPr>
            </a:pPr>
            <a:r>
              <a:rPr sz="2850" b="1">
                <a:solidFill>
                  <a:srgbClr val="0F2742"/>
                </a:solidFill>
              </a:rPr>
              <a:t>关键指标证明端侧模型可运行、可验证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13910-A15E-432C-A12D-83032AC1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准确率来自离线测试集，板端耗时与资源来自 ESP-DL 运行日志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26F3B-1CC7-48C0-8C29-27DC4CC3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3EC"/>
          </a:solidFill>
          <a:ln xmlns:a="http://schemas.openxmlformats.org/drawingml/2006/main" w="0">
            <a:solidFill>
              <a:srgbClr val="D6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33990-C336-4603-9F1C-9D234480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聆安 Watch / 嵌入式边缘 AI 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0379F-3A21-4AB4-8DE9-F17620DE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AA53A-A721-46A6-83E9-EBE9784A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000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9E6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1398E-9B81-4C80-80C9-ECBA87A7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25" b="1">
                <a:solidFill>
                  <a:srgbClr val="1769AA"/>
                </a:solidFill>
              </a:defRPr>
            </a:pPr>
            <a:r>
              <a:rPr sz="2325" b="1">
                <a:solidFill>
                  <a:srgbClr val="1769AA"/>
                </a:solidFill>
              </a:rPr>
              <a:t>96.18%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C1E43-6BA5-4AE9-A448-E54B22F5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579"/>
                </a:solidFill>
              </a:defRPr>
            </a:pPr>
            <a:r>
              <a:rPr sz="1125" b="0">
                <a:solidFill>
                  <a:srgbClr val="526579"/>
                </a:solidFill>
              </a:rPr>
              <a:t>Accuracy / 131 条测试集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EFED9-9EC7-448E-92ED-5F743315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52600"/>
            <a:ext cx="2000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9E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6D745-5933-43D9-9E30-45F74975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25" b="1">
                <a:solidFill>
                  <a:srgbClr val="0F9F8F"/>
                </a:solidFill>
              </a:defRPr>
            </a:pPr>
            <a:r>
              <a:rPr sz="2325" b="1">
                <a:solidFill>
                  <a:srgbClr val="0F9F8F"/>
                </a:solidFill>
              </a:rPr>
              <a:t>93.83%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B1553-5A9F-46E1-8F2D-9B927C4F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03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579"/>
                </a:solidFill>
              </a:defRPr>
            </a:pPr>
            <a:r>
              <a:rPr sz="1125" b="0">
                <a:solidFill>
                  <a:srgbClr val="526579"/>
                </a:solidFill>
              </a:rPr>
              <a:t>危险召回率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9920A-0359-41B3-BAB7-8D6FA7CB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52600"/>
            <a:ext cx="2000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9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B704F-CF61-4BBB-ABE7-F57C2E29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240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25" b="1">
                <a:solidFill>
                  <a:srgbClr val="16A34A"/>
                </a:solidFill>
              </a:defRPr>
            </a:pPr>
            <a:r>
              <a:rPr sz="2325" b="1">
                <a:solidFill>
                  <a:srgbClr val="16A34A"/>
                </a:solidFill>
              </a:rPr>
              <a:t>0.00%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9EA00-6FA7-4AF1-BF73-57C39F27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003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579"/>
                </a:solidFill>
              </a:defRPr>
            </a:pPr>
            <a:r>
              <a:rPr sz="1125" b="0">
                <a:solidFill>
                  <a:srgbClr val="526579"/>
                </a:solidFill>
              </a:rPr>
              <a:t>background 误报率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CF823-EC45-4BF1-963D-71122EB4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2000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9E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19010-5265-4150-A6B6-EF13DE79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240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25" b="1">
                <a:solidFill>
                  <a:srgbClr val="6D5BD0"/>
                </a:solidFill>
              </a:defRPr>
            </a:pPr>
            <a:r>
              <a:rPr sz="2325" b="1">
                <a:solidFill>
                  <a:srgbClr val="6D5BD0"/>
                </a:solidFill>
              </a:rPr>
              <a:t>96.82%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530C8-8518-4A07-9814-B9DB2780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579"/>
                </a:solidFill>
              </a:defRPr>
            </a:pPr>
            <a:r>
              <a:rPr sz="1125" b="0">
                <a:solidFill>
                  <a:srgbClr val="526579"/>
                </a:solidFill>
              </a:rPr>
              <a:t>F1-score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9A646-7557-4599-A2CB-1AF7DA10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5260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9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3ACFC-95C9-4734-8D72-5C2850FF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240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25" b="1">
                <a:solidFill>
                  <a:srgbClr val="F59E0B"/>
                </a:solidFill>
              </a:defRPr>
            </a:pPr>
            <a:r>
              <a:rPr sz="2325" b="1">
                <a:solidFill>
                  <a:srgbClr val="F59E0B"/>
                </a:solidFill>
              </a:rPr>
              <a:t>31.4 KB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4538EE-D7F7-4371-971A-3EEE332E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003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579"/>
                </a:solidFill>
              </a:defRPr>
            </a:pPr>
            <a:r>
              <a:rPr sz="1125" b="0">
                <a:solidFill>
                  <a:srgbClr val="526579"/>
                </a:solidFill>
              </a:rPr>
              <a:t>当前部署模型文件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59790-C14B-4E7E-8712-9A2EE354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3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3637AE-5FBC-4DBC-B6F1-B2AA77EB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0F2742"/>
                </a:solidFill>
              </a:defRPr>
            </a:pPr>
            <a:r>
              <a:rPr sz="2025" b="1">
                <a:solidFill>
                  <a:srgbClr val="0F2742"/>
                </a:solidFill>
              </a:rPr>
              <a:t>板端资源与耗时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B6C045-420E-4814-BB06-D90DA96D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• 内部 RAM 5,616 B；PSRAM 272,680 B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• Fbank 32.66 ms；推理 53.41 ms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• 特征与推理合计约 86.07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2048F3-F1E1-46D3-9202-0C3791FB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3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8A55CF-1297-42F4-B854-249C666D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0F2742"/>
                </a:solidFill>
              </a:defRPr>
            </a:pPr>
            <a:r>
              <a:rPr sz="2025" b="1">
                <a:solidFill>
                  <a:srgbClr val="0F2742"/>
                </a:solidFill>
              </a:rPr>
              <a:t>工程稳定性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2C1852-2182-45DE-9418-4E5A5180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14800"/>
            <a:ext cx="390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• 首次危险判断到告警约 380-400 ms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• 默认安全监听 24 h 无崩溃、无看门狗复位、无内存耗尽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• 固件相关源码测试 30 项、服务器端接口测试 42 项通过</a:t>
            </a:r>
          </a:p>
        </p:txBody>
      </p:sp>
    </p:spTree>
    <p:extLst>
      <p:ext uri="{BB962C8B-B14F-4D97-AF65-F5344CB8AC3E}">
        <p14:creationId xmlns:p14="http://schemas.microsoft.com/office/powerpoint/2010/main" val="919203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2DAF91-354B-4048-93FE-FF3629FA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0F2742"/>
                </a:solidFill>
              </a:defRPr>
            </a:pPr>
            <a:r>
              <a:rPr sz="2850" b="1">
                <a:solidFill>
                  <a:srgbClr val="0F2742"/>
                </a:solidFill>
              </a:rPr>
              <a:t>工程证据围绕“真机闭环”组织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DD40D-DD0A-4D77-A98D-36A2E942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视频中优先展示能证明链路跑通的画面，而不是堆源码或方案图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2AB3E-6FFE-4AE6-AC06-9A1B55FF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3EC"/>
          </a:solidFill>
          <a:ln xmlns:a="http://schemas.openxmlformats.org/drawingml/2006/main" w="0">
            <a:solidFill>
              <a:srgbClr val="D6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5F172-48C9-4EEA-8071-814A733D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聆安 Watch / 嵌入式边缘 AI 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7BA90-1157-478D-BC6A-6435C6C4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07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fd9b9751d472f"/>
          <a:stretch xmlns:a="http://schemas.openxmlformats.org/drawingml/2006/main"/>
        </p:blipFill>
        <p:spPr>
          <a:xfrm xmlns:a="http://schemas.openxmlformats.org/drawingml/2006/main">
            <a:off x="940794" y="1790700"/>
            <a:ext cx="2633263" cy="219075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000a2385c4275"/>
          <a:stretch xmlns:a="http://schemas.openxmlformats.org/drawingml/2006/main"/>
        </p:blipFill>
        <p:spPr>
          <a:xfrm xmlns:a="http://schemas.openxmlformats.org/drawingml/2006/main">
            <a:off x="4350744" y="1790700"/>
            <a:ext cx="2633263" cy="219075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EC395-C205-41B7-9CDB-F7298F8D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9070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0E6D5-7523-414B-B322-E65A57FB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383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0F2742"/>
                </a:solidFill>
              </a:defRPr>
            </a:pPr>
            <a:r>
              <a:rPr sz="1950" b="1">
                <a:solidFill>
                  <a:srgbClr val="0F2742"/>
                </a:solidFill>
              </a:rPr>
              <a:t>板端闭环证据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882C2-DCEB-41E6-B95E-E9B3CCB1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33650"/>
            <a:ext cx="276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• 危险状态机日志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• 屏幕 + 震动提醒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• SD 卡 WAV/JSON 样本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• 云服务端接收告警并推送手机通知栏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FF7A7-1A48-44C9-9D41-5FD55432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6FBFF"/>
          </a:solidFill>
          <a:ln xmlns:a="http://schemas.openxmlformats.org/drawingml/2006/main" w="9525">
            <a:solidFill>
              <a:srgbClr val="D6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39DF9-7D18-4790-A8A9-37137050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硬件设计完成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34384-C1B3-4C7C-BA08-EAE4D551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149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579"/>
                </a:solidFill>
              </a:defRPr>
            </a:pPr>
            <a:r>
              <a:rPr sz="1125" b="0">
                <a:solidFill>
                  <a:srgbClr val="526579"/>
                </a:solidFill>
              </a:rPr>
              <a:t>原理图、板框、顶/底层布局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A4EED-96ED-4E2C-AB4B-67A3457C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8150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F0D8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104CB-7845-45CD-B028-8A7B228E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91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本地样本保存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C1596-D689-4519-9EFA-E44D238B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149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579"/>
                </a:solidFill>
              </a:defRPr>
            </a:pPr>
            <a:r>
              <a:rPr sz="1125" b="0">
                <a:solidFill>
                  <a:srgbClr val="526579"/>
                </a:solidFill>
              </a:rPr>
              <a:t>约 2 s / 16 kHz / WAV +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4D707-62B6-4D18-B0A2-16C7B036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8150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FF9"/>
          </a:solidFill>
          <a:ln xmlns:a="http://schemas.openxmlformats.org/drawingml/2006/main" w="9525">
            <a:solidFill>
              <a:srgbClr val="CDE8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6786F-7BA7-4C6E-A0E0-AB0855CF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手机补充告警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707DA-E7AE-4D35-8FF1-C4CD1D90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149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579"/>
                </a:solidFill>
              </a:defRPr>
            </a:pPr>
            <a:r>
              <a:rPr sz="1125" b="0">
                <a:solidFill>
                  <a:srgbClr val="526579"/>
                </a:solidFill>
              </a:rPr>
              <a:t>HTTPS 请求 + 鉴权 + 去重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573774-1BE1-44DF-BCC6-F103E49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81500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BF9FF"/>
          </a:solidFill>
          <a:ln xmlns:a="http://schemas.openxmlformats.org/drawingml/2006/main" w="9525">
            <a:solidFill>
              <a:srgbClr val="D8D1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E9FE0-D332-4059-82AF-C8D2E8D2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910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6D5BD0"/>
                </a:solidFill>
              </a:defRPr>
            </a:pPr>
            <a:r>
              <a:rPr sz="1650" b="1">
                <a:solidFill>
                  <a:srgbClr val="6D5BD0"/>
                </a:solidFill>
              </a:rPr>
              <a:t>24 h 稳定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1A1DD-71AA-47B2-B9A4-DE968700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149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579"/>
                </a:solidFill>
              </a:defRPr>
            </a:pPr>
            <a:r>
              <a:rPr sz="1125" b="0">
                <a:solidFill>
                  <a:srgbClr val="526579"/>
                </a:solidFill>
              </a:rPr>
              <a:t>无崩溃/复位/OOM</a:t>
            </a:r>
          </a:p>
        </p:txBody>
      </p:sp>
    </p:spTree>
    <p:extLst>
      <p:ext uri="{BB962C8B-B14F-4D97-AF65-F5344CB8AC3E}">
        <p14:creationId xmlns:p14="http://schemas.microsoft.com/office/powerpoint/2010/main" val="11651970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53FCA0-AF2C-4757-B34D-896E21D2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0F2742"/>
                </a:solidFill>
              </a:defRPr>
            </a:pPr>
            <a:r>
              <a:rPr sz="2850" b="1">
                <a:solidFill>
                  <a:srgbClr val="0F2742"/>
                </a:solidFill>
              </a:rPr>
              <a:t>Hermes 是安全主线之外的随身任务辅助扩展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2D654-A2A0-458B-B745-9F73377A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手表负责输入和回执，长期记忆、任务理解与工具调用放在云服务端和 Hermes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0DA79-46E4-45E2-9B9C-42D9E950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3EC"/>
          </a:solidFill>
          <a:ln xmlns:a="http://schemas.openxmlformats.org/drawingml/2006/main" w="0">
            <a:solidFill>
              <a:srgbClr val="D6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134A2-6A13-4F58-97D1-46085186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聆安 Watch / 嵌入式边缘 AI 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4FDFA-08BF-4A55-A2CB-01B08543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08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a1ac512c64ee7"/>
          <a:stretch xmlns:a="http://schemas.openxmlformats.org/drawingml/2006/main"/>
        </p:blipFill>
        <p:spPr>
          <a:xfrm xmlns:a="http://schemas.openxmlformats.org/drawingml/2006/main">
            <a:off x="819150" y="1695450"/>
            <a:ext cx="6705600" cy="377190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144A1-D426-40B7-B76B-2E951372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0289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BF9FF"/>
          </a:solidFill>
          <a:ln xmlns:a="http://schemas.openxmlformats.org/drawingml/2006/main" w="9525">
            <a:solidFill>
              <a:srgbClr val="D9D2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DFC11-6757-498D-A25A-5E2AEF8F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D5BD0"/>
                </a:solidFill>
              </a:defRPr>
            </a:pPr>
            <a:r>
              <a:rPr sz="1800" b="1">
                <a:solidFill>
                  <a:srgbClr val="6D5BD0"/>
                </a:solidFill>
              </a:rPr>
              <a:t>用户离开电脑后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9A9C3-7710-4870-8B16-93B69AD7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仍可用手表提交语音或文本任务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E8EA1-E516-4555-AF4C-C10E4D88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30289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94EBC-D25B-4E81-92EC-F845D957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19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769AA"/>
                </a:solidFill>
              </a:defRPr>
            </a:pPr>
            <a:r>
              <a:rPr sz="1800" b="1">
                <a:solidFill>
                  <a:srgbClr val="1769AA"/>
                </a:solidFill>
              </a:rPr>
              <a:t>Hermes 处理复杂任务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35229-B539-426A-8F97-6EA40535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记录事项、创建提醒、查询信息、联动电脑端工具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58BC5-ADE7-4808-A913-D992A407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05300"/>
            <a:ext cx="30289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8FFF9"/>
          </a:solidFill>
          <a:ln xmlns:a="http://schemas.openxmlformats.org/drawingml/2006/main" w="9525">
            <a:solidFill>
              <a:srgbClr val="CFE9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D149B-80EF-4D51-831E-5A0BD21A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95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6A34A"/>
                </a:solidFill>
              </a:defRPr>
            </a:pPr>
            <a:r>
              <a:rPr sz="1800" b="1">
                <a:solidFill>
                  <a:srgbClr val="16A34A"/>
                </a:solidFill>
              </a:rPr>
              <a:t>手表接收简短回执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EF03D-832A-4ABA-A433-C15BA55C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76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扩展残障用户的日常任务处理能力</a:t>
            </a:r>
          </a:p>
        </p:txBody>
      </p:sp>
    </p:spTree>
    <p:extLst>
      <p:ext uri="{BB962C8B-B14F-4D97-AF65-F5344CB8AC3E}">
        <p14:creationId xmlns:p14="http://schemas.microsoft.com/office/powerpoint/2010/main" val="20997189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BE9CCF-6408-47EA-9145-84D7978B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0F2742"/>
                </a:solidFill>
              </a:defRPr>
            </a:pPr>
            <a:r>
              <a:rPr sz="2850" b="1">
                <a:solidFill>
                  <a:srgbClr val="0F2742"/>
                </a:solidFill>
              </a:rPr>
              <a:t>聆安 Watch 把边缘 AI 做成可佩戴的安全辅助闭环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D954A-B6F4-45D8-A1D1-B0D19D3E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总结创新：端侧识别、本地提醒、状态机稳定化、样本与通知工程闭环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DA667-2231-44D1-A8D6-81F2D92E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3EC"/>
          </a:solidFill>
          <a:ln xmlns:a="http://schemas.openxmlformats.org/drawingml/2006/main" w="0">
            <a:solidFill>
              <a:srgbClr val="D6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5458D-B305-4401-A8BB-09F94668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聆安 Watch / 嵌入式边缘 AI 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79F64-FB4A-4273-AFCF-B9848E85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FE37E-7493-42BC-8A33-3B55397F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48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6FBFF"/>
          </a:solidFill>
          <a:ln xmlns:a="http://schemas.openxmlformats.org/drawingml/2006/main" w="9525">
            <a:solidFill>
              <a:srgbClr val="D6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93669-FBF3-4702-9B5D-F68B8813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812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1769AA"/>
                </a:solidFill>
              </a:defRPr>
            </a:pPr>
            <a:r>
              <a:rPr sz="2700" b="1">
                <a:solidFill>
                  <a:srgbClr val="1769AA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6692D-D6B6-4A7E-86DF-3DDA4D8F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383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0F2742"/>
                </a:solidFill>
              </a:defRPr>
            </a:pPr>
            <a:r>
              <a:rPr sz="2025" b="1">
                <a:solidFill>
                  <a:srgbClr val="0F2742"/>
                </a:solidFill>
              </a:rPr>
              <a:t>端侧安全闭环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3A488-A838-454F-9597-E044DFB9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26579"/>
                </a:solidFill>
              </a:defRPr>
            </a:pPr>
            <a:r>
              <a:rPr sz="1500" b="0">
                <a:solidFill>
                  <a:srgbClr val="526579"/>
                </a:solidFill>
              </a:rPr>
              <a:t>危险声识别、屏幕和震动提醒都在 ESP32-S3 手表端完成，断网时仍能工作。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FB0B3-8134-4279-92CA-125B03C4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F1D7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F3F1B-9215-41B4-BADC-F96B67FF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812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36C3B-3B4F-42DD-BACA-4E259BF6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383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0F2742"/>
                </a:solidFill>
              </a:defRPr>
            </a:pPr>
            <a:r>
              <a:rPr sz="2025" b="1">
                <a:solidFill>
                  <a:srgbClr val="0F2742"/>
                </a:solidFill>
              </a:rPr>
              <a:t>低打扰提醒策略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D705C-54BD-4557-9D79-10DD8C25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8605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26579"/>
                </a:solidFill>
              </a:defRPr>
            </a:pPr>
            <a:r>
              <a:rPr sz="1500" b="0">
                <a:solidFill>
                  <a:srgbClr val="526579"/>
                </a:solidFill>
              </a:rPr>
              <a:t>连续确认、保持、冷却和三档灵敏度，把模型输出转化为稳定产品状态。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824C9-8044-4CF7-861D-4B81F235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048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FF9"/>
          </a:solidFill>
          <a:ln xmlns:a="http://schemas.openxmlformats.org/drawingml/2006/main" w="9525">
            <a:solidFill>
              <a:srgbClr val="CFE9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C3E55-0271-443A-B42D-C2011A19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16A34A"/>
                </a:solidFill>
              </a:defRPr>
            </a:pPr>
            <a:r>
              <a:rPr sz="2700" b="1">
                <a:solidFill>
                  <a:srgbClr val="16A34A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D9D79-3CE6-4A7B-AA60-55ED88D5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0F2742"/>
                </a:solidFill>
              </a:defRPr>
            </a:pPr>
            <a:r>
              <a:rPr sz="2025" b="1">
                <a:solidFill>
                  <a:srgbClr val="0F2742"/>
                </a:solidFill>
              </a:rPr>
              <a:t>工程闭环可持续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35CCE-47DE-4068-B429-06F1E306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86050"/>
            <a:ext cx="2333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26579"/>
                </a:solidFill>
              </a:defRPr>
            </a:pPr>
            <a:r>
              <a:rPr sz="1500" b="0">
                <a:solidFill>
                  <a:srgbClr val="526579"/>
                </a:solidFill>
              </a:rPr>
              <a:t>SD 样本、手机告警和 Hermes 辅助，让原型具备持续优化入口。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1E538F-736E-4245-A5A2-11718F9E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57750"/>
            <a:ext cx="948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0F2742"/>
                </a:solidFill>
              </a:defRPr>
            </a:pPr>
            <a:r>
              <a:rPr sz="2100" b="1">
                <a:solidFill>
                  <a:srgbClr val="0F2742"/>
                </a:solidFill>
              </a:rPr>
              <a:t>目标：让听障用户更早感知危险，减少对他人提醒的依赖</a:t>
            </a:r>
          </a:p>
        </p:txBody>
      </p:sp>
    </p:spTree>
    <p:extLst>
      <p:ext uri="{BB962C8B-B14F-4D97-AF65-F5344CB8AC3E}">
        <p14:creationId xmlns:p14="http://schemas.microsoft.com/office/powerpoint/2010/main" val="1052336141"/>
      </p:ext>
    </p:extLst>
  </p:cSld>
</p:sld>
</file>

<file path=ppt/theme/theme1.xml><?xml version="1.0" encoding="utf-8"?>
<a:theme xmlns:a="http://schemas.openxmlformats.org/drawingml/2006/main" name="ChatGPT">
  <a:themeElements>
    <a:clrScheme name="Lingan Clean Technical">
      <a:dk1>
        <a:srgbClr val="000000"/>
      </a:dk1>
      <a:lt1>
        <a:srgbClr val="FFFFFF"/>
      </a:lt1>
      <a:dk2>
        <a:srgbClr val="0F2742"/>
      </a:dk2>
      <a:lt2>
        <a:srgbClr val="D6E3EC"/>
      </a:lt2>
      <a:accent1>
        <a:srgbClr val="1769AA"/>
      </a:accent1>
      <a:accent2>
        <a:srgbClr val="0F9F8F"/>
      </a:accent2>
      <a:accent3>
        <a:srgbClr val="F59E0B"/>
      </a:accent3>
      <a:accent4>
        <a:srgbClr val="DF3B30"/>
      </a:accent4>
      <a:accent5>
        <a:srgbClr val="6D5BD0"/>
      </a:accent5>
      <a:accent6>
        <a:srgbClr val="16A34A"/>
      </a:accent6>
      <a:hlink>
        <a:srgbClr val="1769AA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ingan Clean Technic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2026-07-04T20:51:06.2890000Z</dcterms:created>
  <dcterms:modified xsi:type="dcterms:W3CDTF">2026-07-04T20:51:06.2890000Z</dcterms:modified>
</coreProperties>
</file>