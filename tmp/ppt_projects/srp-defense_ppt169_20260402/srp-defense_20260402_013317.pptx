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各位老师好，我汇报的项目是“基于AI大模型的声纹感知助残智能手表”，这是我们校级大学生创新创业训练计划项目的结题答辩。[停顿]</a:t>
            </a:r>
          </a:p>
          <a:p>
            <a:r>
              <a:rPr lang="zh-CN" dirty="0"/>
              <a:t>本项目围绕助残场景，重点完成了可穿戴交互底座、离线危险声音识别，以及联网 AI 对话扩展链路的阶段性验证。</a:t>
            </a:r>
          </a:p>
          <a:p>
            <a:endParaRPr lang="zh-CN" dirty="0"/>
          </a:p>
          <a:p>
            <a:r>
              <a:rPr lang="zh-CN" dirty="0"/>
              <a:t>要点：① 交代项目名称与答辩主题 ② 说明本次汇报聚焦阶段性成果 ③ 引出后续技术亮点</a:t>
            </a:r>
          </a:p>
          <a:p>
            <a:r>
              <a:rPr lang="zh-CN" dirty="0"/>
              <a:t>时长：0.4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首先说明我们为什么要做这个项目。</a:t>
            </a:r>
          </a:p>
          <a:p>
            <a:r>
              <a:rPr lang="zh-CN" dirty="0"/>
              <a:t>对于视障和听障群体来说，日常出行和交流中有大量关键环境信息是通过声音传递的，例如鸣笛、警笛和他人呼叫。[停顿]</a:t>
            </a:r>
          </a:p>
          <a:p>
            <a:r>
              <a:rPr lang="zh-CN" dirty="0"/>
              <a:t>因此，我们希望把这些高风险声音信息转化为腕上设备可及时理解的反馈，并进一步探索在嵌入式端稳定落地的可能性。</a:t>
            </a:r>
          </a:p>
          <a:p>
            <a:endParaRPr lang="zh-CN" dirty="0"/>
          </a:p>
          <a:p>
            <a:r>
              <a:rPr lang="zh-CN" dirty="0"/>
              <a:t>要点：① 助残场景需求明确 ② 危险声音感知具有现实价值 ③ 工程落地难度也是研究意义的一部分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在明确需求以后，我们没有平均用力，而是做了阶段性的路线收敛。</a:t>
            </a:r>
          </a:p>
          <a:p>
            <a:r>
              <a:rPr lang="zh-CN" dirty="0"/>
              <a:t>立项目标原本比较完整，但在实际推进中，我们优先聚焦三个方面：嵌入式交互底座、离线危险识别，以及联网 AI 扩展。[停顿]</a:t>
            </a:r>
          </a:p>
          <a:p>
            <a:r>
              <a:rPr lang="zh-CN" dirty="0"/>
              <a:t>这样做的目的，是先形成一个真正可运行、可验证、可继续迭代的原型，而不是只停留在功能设想层面。</a:t>
            </a:r>
          </a:p>
          <a:p>
            <a:endParaRPr lang="zh-CN" dirty="0"/>
          </a:p>
          <a:p>
            <a:r>
              <a:rPr lang="zh-CN" dirty="0"/>
              <a:t>要点：① 说明立项目标与当前阶段的关系 ② 强调三条主线 ③ 说明“阶段性原型验证”的定位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接下来介绍系统整体是怎样组织起来的。</a:t>
            </a:r>
          </a:p>
          <a:p>
            <a:r>
              <a:rPr lang="zh-CN" dirty="0"/>
              <a:t>当前系统已经形成显示触摸、联网服务、危险检测和 AI 对话四个关键模块，并由 ESP32-S3 作为主控统一调度。[停顿]</a:t>
            </a:r>
          </a:p>
          <a:p>
            <a:r>
              <a:rPr lang="zh-CN" dirty="0"/>
              <a:t>整体运行模式是前台界面优先可用，后台持续完成联网探测、危险识别和会话准备，这样更符合手表类设备的使用场景。</a:t>
            </a:r>
          </a:p>
          <a:p>
            <a:endParaRPr lang="zh-CN" dirty="0"/>
          </a:p>
          <a:p>
            <a:r>
              <a:rPr lang="zh-CN" dirty="0"/>
              <a:t>要点：① 明确四个关键模块 ② 说明模块间关系 ③ 强调前后台分工的工程价值</a:t>
            </a:r>
          </a:p>
          <a:p>
            <a:r>
              <a:rPr lang="zh-CN" dirty="0"/>
              <a:t>时长：0.7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这也是本次结题答辩最核心的一页。</a:t>
            </a:r>
          </a:p>
          <a:p>
            <a:r>
              <a:rPr lang="zh-CN" dirty="0"/>
              <a:t>我们的危险声音识别链路部署在端侧，本地完成音频采集、重采样、滑窗推理和后处理，不依赖云端实时返回。[停顿]</a:t>
            </a:r>
          </a:p>
          <a:p>
            <a:r>
              <a:rPr lang="zh-CN" dirty="0"/>
              <a:t>当前重点覆盖喇叭、警笛和背景音三类结果，并且已经在真机上实现识别后联动红屏与提示音，这说明它不只是模型演示，而是已经进入实际交互闭环。</a:t>
            </a:r>
          </a:p>
          <a:p>
            <a:endParaRPr lang="zh-CN" dirty="0"/>
          </a:p>
          <a:p>
            <a:r>
              <a:rPr lang="zh-CN" dirty="0"/>
              <a:t>要点：① 说明为什么必须做离线识别 ② 讲清楚处理流程 ③ 强调真机告警闭环已经跑通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在核心识别能力之外，我们也重点处理了系统级联动问题。</a:t>
            </a:r>
          </a:p>
          <a:p>
            <a:r>
              <a:rPr lang="zh-CN" dirty="0"/>
              <a:t>从启动流程看，硬件初始化、LVGL 主任务、网络服务、危险检测服务和 AI 对话服务已经形成清晰分工。[停顿]</a:t>
            </a:r>
          </a:p>
          <a:p>
            <a:r>
              <a:rPr lang="zh-CN" dirty="0"/>
              <a:t>尤其是 UI 单线程刷新与后台任务并行运行的设计，帮助我们降低了线程竞争和界面异常风险，也让识别、联网和页面展示能够协同工作。</a:t>
            </a:r>
          </a:p>
          <a:p>
            <a:endParaRPr lang="zh-CN" dirty="0"/>
          </a:p>
          <a:p>
            <a:r>
              <a:rPr lang="zh-CN" dirty="0"/>
              <a:t>要点：① 说明系统不是单模块堆叠 ② 强调服务之间的职责划分 ③ 突出界面、识别和联网的联动闭环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这一页主要展示当前原型的可视化表现。</a:t>
            </a:r>
          </a:p>
          <a:p>
            <a:r>
              <a:rPr lang="zh-CN" dirty="0"/>
              <a:t>目前答辩材料中已经整理出主界面截图和 AI 对话页面截图，可以看到页面入口、状态展示和消息区已经形成比较清晰的交互骨架。[停顿]</a:t>
            </a:r>
          </a:p>
          <a:p>
            <a:r>
              <a:rPr lang="zh-CN" dirty="0"/>
              <a:t>左侧预留了实物照片和结构视图位置，后续补入实拍素材后，可以更完整地支撑项目展示。</a:t>
            </a:r>
          </a:p>
          <a:p>
            <a:endParaRPr lang="zh-CN" dirty="0"/>
          </a:p>
          <a:p>
            <a:r>
              <a:rPr lang="zh-CN" dirty="0"/>
              <a:t>要点：① 展示当前已有页面证据 ② 说明原型具备实际界面形态 ③ 交代实物图后续可继续补强</a:t>
            </a:r>
          </a:p>
          <a:p>
            <a:r>
              <a:rPr lang="zh-CN" dirty="0"/>
              <a:t>时长：0.4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综合来看，本项目已经完成了较扎实的阶段性成果。</a:t>
            </a:r>
          </a:p>
          <a:p>
            <a:r>
              <a:rPr lang="zh-CN" dirty="0"/>
              <a:t>第一，我们完成了可运行手表原型和多页面交互底座；第二，完成了离线危险声音识别与提示闭环；第三，完成了联网 AI 对话扩展底座的接入。[停顿]</a:t>
            </a:r>
          </a:p>
          <a:p>
            <a:r>
              <a:rPr lang="zh-CN" dirty="0"/>
              <a:t>项目的创新点主要体现在端侧 AI、助残导向设计和模块化系统集成三者的结合，这也构成了项目的核心特色。</a:t>
            </a:r>
          </a:p>
          <a:p>
            <a:endParaRPr lang="zh-CN" dirty="0"/>
          </a:p>
          <a:p>
            <a:r>
              <a:rPr lang="zh-CN" dirty="0"/>
              <a:t>要点：① 概括三项阶段性成果 ② 提炼项目创新点 ③ 说明其对后续迭代的价值</a:t>
            </a:r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最后汇报目前仍存在的问题以及下一步方向。</a:t>
            </a:r>
          </a:p>
          <a:p>
            <a:r>
              <a:rPr lang="zh-CN" dirty="0"/>
              <a:t>和立项设想相比，心率、BLE 协同、更多识别类别、长期稳定性和正式用户研究还需要继续推进。[停顿]</a:t>
            </a:r>
          </a:p>
          <a:p>
            <a:r>
              <a:rPr lang="zh-CN" dirty="0"/>
              <a:t>但从当前结果看，项目已经建立起较完整的工程底座，后续只要沿着感知扩展、稳定性优化和用户验证三条线继续深化，就具备进一步产品化验证的基础。</a:t>
            </a:r>
          </a:p>
          <a:p>
            <a:endParaRPr lang="zh-CN" dirty="0"/>
          </a:p>
          <a:p>
            <a:r>
              <a:rPr lang="zh-CN" dirty="0"/>
              <a:t>要点：① 坦诚说明当前不足 ② 给出清晰的后续路线 ③ 以“具备继续深化基础”作为结尾</a:t>
            </a:r>
          </a:p>
          <a:p>
            <a:r>
              <a:rPr lang="zh-CN" dirty="0"/>
              <a:t>时长：0.3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7_img1.png"/>
  <Relationship Id="rId3" Type="http://schemas.openxmlformats.org/officeDocument/2006/relationships/image" Target="../media/s7_img2.pn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5B8FD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95250" cy="102870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715500" y="266700"/>
            <a:ext cx="1905000" cy="43815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559009" y="364808"/>
            <a:ext cx="22179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SRP FINAL DEFENSE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rgbClr val="5B8FD9">
                  <a:alpha val="22000"/>
                </a:srgbClr>
              </a:gs>
              <a:gs pos="100000">
                <a:srgbClr val="5B8F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76300" y="1676400"/>
            <a:ext cx="1390650" cy="3429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68859" y="176736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项目结题答辩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78754" y="2528888"/>
            <a:ext cx="403449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基于AI大模型的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73016" y="3157538"/>
            <a:ext cx="584596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声纹感知助残智能手表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20900" y="3781901"/>
            <a:ext cx="6750201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2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校级大学生创新创业训练计划项目（SRP）结题答辩</a:t>
            </a:r>
          </a:p>
        </p:txBody>
      </p:sp>
      <p:sp>
        <p:nvSpPr>
          <p:cNvPr id="13" name="Line 13"/>
          <p:cNvSpPr/>
          <p:nvPr/>
        </p:nvSpPr>
        <p:spPr>
          <a:xfrm>
            <a:off x="3733800" y="4343400"/>
            <a:ext cx="4724400" cy="9525"/>
          </a:xfrm>
          <a:custGeom>
            <a:avLst/>
            <a:gdLst/>
            <a:ahLst/>
            <a:cxnLst/>
            <a:rect l="l" t="t" r="r" b="b"/>
            <a:pathLst>
              <a:path w="4724400" h="952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19050">
            <a:solidFill>
              <a:srgbClr val="5B8FD9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6038850" y="4286250"/>
            <a:ext cx="114300" cy="1143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286000" y="4648200"/>
            <a:ext cx="7620000" cy="1314450"/>
          </a:xfrm>
          <a:prstGeom prst="rect">
            <a:avLst/>
          </a:prstGeom>
          <a:solidFill>
            <a:srgbClr val="F7FAFE"/>
          </a:solidFill>
          <a:ln w="9525">
            <a:solidFill>
              <a:srgbClr val="C9D7E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838450" y="4886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项目成员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78605" y="4864418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朱烨俊、丘学之、彭贤康、赵一涵、柯家耀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81850" y="4886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指导教师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20100" y="488632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陈玉霞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38450" y="53244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学院专业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76700" y="5324475"/>
            <a:ext cx="35761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汽车与交通工程学院 · 智能车辆工程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34350" y="532447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时间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01100" y="5324475"/>
            <a:ext cx="12758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2026 年 4 月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3220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项目背景与研究意义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7379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助残设备的关键价值，在于把高风险环境信息转化为用户可及时理解的反馈。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514350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81125"/>
            <a:ext cx="114300" cy="4714875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20090" y="15773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典型使用痛点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42950" y="2038350"/>
            <a:ext cx="44196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914400" y="2247900"/>
            <a:ext cx="304800" cy="3048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18601" y="23117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4452" y="2208371"/>
            <a:ext cx="30955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视障用户难以及时感知危险声源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6358" y="2510314"/>
            <a:ext cx="3384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鸣笛、警笛等声音与出行安全直接相关，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6358" y="2738914"/>
            <a:ext cx="37566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但传统方案难以在贴身设备上完成实时提醒。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42950" y="3219450"/>
            <a:ext cx="44196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914400" y="3429000"/>
            <a:ext cx="304800" cy="3048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92723" y="34928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4452" y="3389471"/>
            <a:ext cx="35326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听障用户需要更直观的信息转化方式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6358" y="3691414"/>
            <a:ext cx="37566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关键声音若能转化为视觉、状态或触觉提示，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6358" y="3920014"/>
            <a:ext cx="30118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可以明显降低获取外界信息的门槛。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42950" y="4400550"/>
            <a:ext cx="441960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914400" y="4610100"/>
            <a:ext cx="304800" cy="3048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92723" y="46739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4452" y="4570571"/>
            <a:ext cx="35326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嵌入式可穿戴平台的实现门槛并不低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36358" y="4872514"/>
            <a:ext cx="46877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智能手表同时受限于算力、内存、屏幕尺寸与交互方式，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6358" y="5101114"/>
            <a:ext cx="472497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项目不仅要证明“能做”，还要证明“能在端侧稳定运行”。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72150" y="1381125"/>
            <a:ext cx="603885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092190" y="1577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研究意义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115050" y="2038350"/>
            <a:ext cx="5353050" cy="11049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81750" y="2200275"/>
            <a:ext cx="28329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1. 面向助残场景的工程价值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84608" y="2510314"/>
            <a:ext cx="48739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把高风险声音识别、界面交互和联网能力结合到腕上设备，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84608" y="273891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探索更轻量、更贴身的辅助感知方案。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115050" y="3295650"/>
            <a:ext cx="5353050" cy="11049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381750" y="3457575"/>
            <a:ext cx="34540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2. 面向嵌入式端侧 AI 的实践价值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84608" y="3767614"/>
            <a:ext cx="39428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项目聚焦 ESP32-S3 上的离线识别、线程边界、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84608" y="3996214"/>
            <a:ext cx="38404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后台联网与 UI 协同，具有典型工程训练意义。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115050" y="4552950"/>
            <a:ext cx="5353050" cy="12001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380798" y="4735354"/>
            <a:ext cx="12476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一句话概括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83655" y="507396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本项目并非单点功能演示，而是围绕助残需求，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83655" y="5302568"/>
            <a:ext cx="50423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完成“可穿戴交互 + 离线识别 + 联网扩展”的系统化验证。</a:t>
            </a:r>
          </a:p>
        </p:txBody>
      </p:sp>
      <p:sp>
        <p:nvSpPr>
          <p:cNvPr id="45" name="Line 4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69570" y="6522720"/>
            <a:ext cx="23822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数据来源：SRP 立项申请表、结题报告书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项目目标与总体方案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757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结题阶段的核心不是“把所有设想一次做完”，而是先打通最关键的技术闭环。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5524500" cy="1695450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立项目标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8655" y="1987868"/>
            <a:ext cx="47367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• 面向智能手表形态，探索时间显示、环境声音识别、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8655" y="2245042"/>
            <a:ext cx="43719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人机交互、联网服务和后续手机协同的综合方案。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8655" y="2502218"/>
            <a:ext cx="49339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• 形成兼具助残应用价值和嵌入式工程训练意义的样机。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86500" y="1381125"/>
            <a:ext cx="5524500" cy="16954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568440" y="157734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阶段性取舍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74155" y="1987868"/>
            <a:ext cx="56141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优先完成嵌入式交互底座、危险声音离线识别、联网 AI 扩展。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74155" y="2245042"/>
            <a:ext cx="5170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心率、BLE/手机联动、长期低功耗优化保留到下一阶段。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74155" y="2502218"/>
            <a:ext cx="56042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当前成果定位为“原型样机 + 核心能力验证 + 技术底座建设”。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8140" y="334899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总体方案三条主线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81000" y="3771900"/>
            <a:ext cx="36004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381000" y="3771900"/>
            <a:ext cx="3600450" cy="1143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64845" y="40509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嵌入式交互底座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9608" y="4415314"/>
            <a:ext cx="349596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基于 ESP32-S3 + ESP-IDF 搭建主控系统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9608" y="4643914"/>
            <a:ext cx="30769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LVGL 完成显示、触摸和多页面交互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9608" y="4872514"/>
            <a:ext cx="28814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提供可持续扩展的 UI 与任务骨架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85800" y="5372100"/>
            <a:ext cx="1238250" cy="2857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6812" y="544115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系统可用性基础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295775" y="3771900"/>
            <a:ext cx="36004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295775" y="3771900"/>
            <a:ext cx="3600450" cy="11430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579620" y="40509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离线危险识别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84382" y="4415314"/>
            <a:ext cx="2425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端侧部署危险声音分类模型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84382" y="46439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打通采集、推理、后处理、告警输出链路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84382" y="48725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优先聚焦喇叭、警笛等高价值场景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600575" y="5372100"/>
            <a:ext cx="1238250" cy="285750"/>
          </a:xfrm>
          <a:prstGeom prst="rect">
            <a:avLst/>
          </a:prstGeom>
          <a:solidFill>
            <a:srgbClr val="FDEED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687848" y="54411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4F2A"/>
                </a:solidFill>
                <a:latin typeface="Arial"/>
                <a:ea typeface="Microsoft YaHei"/>
                <a:cs typeface="Arial"/>
              </a:rPr>
              <a:t>核心亮点模块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210550" y="3771900"/>
            <a:ext cx="36004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210550" y="3771900"/>
            <a:ext cx="3600450" cy="11430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494395" y="4050982"/>
            <a:ext cx="142093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 AI 扩展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99158" y="44153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复用配网链路与后台网络状态管理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99158" y="46439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接入 official_chat 对话能力底座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99158" y="4872514"/>
            <a:ext cx="31700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为后续助残交互与服务扩展预留空间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515350" y="5372100"/>
            <a:ext cx="1238250" cy="2857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602623" y="54411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后续扩展入口</a:t>
            </a:r>
          </a:p>
        </p:txBody>
      </p:sp>
      <p:sp>
        <p:nvSpPr>
          <p:cNvPr id="45" name="Line 4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69570" y="6522720"/>
            <a:ext cx="25137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数据来源：SRP 立项申请表、项目结题报告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总体方案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系统架构与关键模块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920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系统采用前后台分工方式运行：前台负责交互可用，后台持续完成联网、识别与服务调度。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581025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系统架构模块框图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400300" y="2952750"/>
            <a:ext cx="1866900" cy="11049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729870" y="3195161"/>
            <a:ext cx="120776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ESP32-S3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79596" y="3539014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主控与任务调度中心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9150" y="179070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74551" y="1981200"/>
            <a:ext cx="12227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显示 / 触摸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0466" y="2280285"/>
            <a:ext cx="20109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LVGL + CO5300 + FT5x06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114800" y="179070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502468" y="1981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联网服务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23538" y="2280285"/>
            <a:ext cx="21160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Wi-Fi 配网 + 服务就绪探测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19150" y="436245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206818" y="4552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危险检测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5310" y="4852035"/>
            <a:ext cx="22212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traffic_inference + alert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114800" y="436245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600230" y="4552950"/>
            <a:ext cx="7626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AI 对话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41838" y="4852035"/>
            <a:ext cx="18794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official_chat_service</a:t>
            </a:r>
          </a:p>
        </p:txBody>
      </p:sp>
      <p:sp>
        <p:nvSpPr>
          <p:cNvPr id="27" name="Line 27"/>
          <p:cNvSpPr/>
          <p:nvPr/>
        </p:nvSpPr>
        <p:spPr>
          <a:xfrm>
            <a:off x="2552700" y="26479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0"/>
                </a:moveTo>
                <a:lnTo>
                  <a:pt x="457200" y="30480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2895600" y="2828925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114300" y="123825"/>
                </a:moveTo>
                <a:lnTo>
                  <a:pt x="0" y="95250"/>
                </a:lnTo>
                <a:lnTo>
                  <a:pt x="57150" y="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3657600" y="26479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457200" y="0"/>
                </a:moveTo>
                <a:lnTo>
                  <a:pt x="0" y="30480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3657600" y="2828925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0" y="123825"/>
                </a:moveTo>
                <a:lnTo>
                  <a:pt x="57150" y="0"/>
                </a:lnTo>
                <a:lnTo>
                  <a:pt x="114300" y="9525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2552700" y="40576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304800"/>
                </a:moveTo>
                <a:lnTo>
                  <a:pt x="45720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2895600" y="4057650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114300" y="0"/>
                </a:moveTo>
                <a:lnTo>
                  <a:pt x="57150" y="123825"/>
                </a:lnTo>
                <a:lnTo>
                  <a:pt x="0" y="28575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3657600" y="40576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457200" y="3048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3657600" y="4057650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0" y="0"/>
                </a:moveTo>
                <a:lnTo>
                  <a:pt x="114300" y="2857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85800" y="5486400"/>
            <a:ext cx="5200650" cy="4000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86360" y="5605939"/>
            <a:ext cx="53995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前台界面可立即使用，后台网络与 AI 服务持续探测并延后就绪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77000" y="1381125"/>
            <a:ext cx="533400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758940" y="15773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关键模块说明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781800" y="2038350"/>
            <a:ext cx="4724400" cy="8763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049452" y="2189321"/>
            <a:ext cx="159866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显示 / 触摸模块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52310" y="245173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负责手表页面显示、触摸输入与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52310" y="2661285"/>
            <a:ext cx="30361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UI 主线程刷新，保证交互层稳定运行。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781800" y="3067050"/>
            <a:ext cx="4724400" cy="8763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049452" y="3218021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联网模块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52310" y="3480435"/>
            <a:ext cx="26681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 Wi-Fi 自动连接、配网入口与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52310" y="3689985"/>
            <a:ext cx="32640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服务可用性探测，为 AI 页提供状态依据。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781800" y="4095750"/>
            <a:ext cx="4724400" cy="87630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7049452" y="4246721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危险检测模块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52310" y="450913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负责离线音频推理、状态判定和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052310" y="4718685"/>
            <a:ext cx="32815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红屏/提示音联动，是安全感知核心路径。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781800" y="5124450"/>
            <a:ext cx="4724400" cy="876300"/>
          </a:xfrm>
          <a:prstGeom prst="rect">
            <a:avLst/>
          </a:prstGeom>
          <a:solidFill>
            <a:srgbClr val="EAF1FB"/>
          </a:solidFill>
          <a:ln w="9525">
            <a:solidFill>
              <a:srgbClr val="C9D7E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7049452" y="5275421"/>
            <a:ext cx="116161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AI 对话模块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52310" y="553783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负责联网后进入对话前台、消息缓存，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52310" y="5747385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以及页面状态切换与会话生命周期管理。</a:t>
            </a:r>
          </a:p>
        </p:txBody>
      </p:sp>
      <p:sp>
        <p:nvSpPr>
          <p:cNvPr id="55" name="Line 5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369570" y="6522720"/>
            <a:ext cx="23888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数据来源：项目上下文文档、结题报告书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7245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离线模型识别危险信号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识别链路部署在端侧，本地即可完成危险声音感知与提醒，不依赖云端实时返回。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619125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离线识别流程图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15265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25973" y="227504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音频采集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4409" y="254412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麦克风输入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571750" y="215265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811923" y="227504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通道抽取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47035" y="25441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主麦声道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57700" y="215265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807137" y="2275046"/>
            <a:ext cx="6917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重采样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48962" y="2544128"/>
            <a:ext cx="10081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24kHz → 16kHz</a:t>
            </a:r>
          </a:p>
        </p:txBody>
      </p:sp>
      <p:sp>
        <p:nvSpPr>
          <p:cNvPr id="21" name="Line 21"/>
          <p:cNvSpPr/>
          <p:nvPr/>
        </p:nvSpPr>
        <p:spPr>
          <a:xfrm>
            <a:off x="2076450" y="250507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2457450" y="2447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3962400" y="250507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4343400" y="2447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628775" y="342900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868948" y="355139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滑窗推理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15561" y="3820478"/>
            <a:ext cx="617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3 秒窗口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514725" y="342900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864162" y="3551396"/>
            <a:ext cx="6917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后处理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59981" y="38204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阈值与状态判定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400675" y="3429000"/>
            <a:ext cx="866775" cy="7048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605129" y="3559492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告警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44406" y="3820478"/>
            <a:ext cx="9697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红屏 + 提示音</a:t>
            </a:r>
          </a:p>
        </p:txBody>
      </p:sp>
      <p:sp>
        <p:nvSpPr>
          <p:cNvPr id="34" name="Line 34"/>
          <p:cNvSpPr/>
          <p:nvPr/>
        </p:nvSpPr>
        <p:spPr>
          <a:xfrm>
            <a:off x="2324100" y="28575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2266950" y="3314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6" name="Line 36"/>
          <p:cNvSpPr/>
          <p:nvPr/>
        </p:nvSpPr>
        <p:spPr>
          <a:xfrm>
            <a:off x="3019425" y="378142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3400425" y="3724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8" name="Line 38"/>
          <p:cNvSpPr/>
          <p:nvPr/>
        </p:nvSpPr>
        <p:spPr>
          <a:xfrm>
            <a:off x="4905375" y="378142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5286375" y="3724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85800" y="4552950"/>
            <a:ext cx="55816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933450" y="47148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为什么要强调离线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36308" y="5043964"/>
            <a:ext cx="44735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危险声音提醒必须具备及时性，不能依赖网络往返。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6308" y="5272564"/>
            <a:ext cx="50322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无网或弱网环境下，手表仍需保留最基本的安全感知能力。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6308" y="5501164"/>
            <a:ext cx="39149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端侧识别更符合可穿戴设备的独立运行需求。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858000" y="1381125"/>
            <a:ext cx="495300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139940" y="157734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当前识别结果与验证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162800" y="2057400"/>
            <a:ext cx="1333500" cy="4000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617833" y="2176939"/>
            <a:ext cx="4234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喇叭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667750" y="2057400"/>
            <a:ext cx="1333500" cy="4000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122783" y="2176939"/>
            <a:ext cx="4234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警笛</a:t>
            </a:r>
          </a:p>
        </p:txBody>
      </p:sp>
      <p:sp>
        <p:nvSpPr>
          <p:cNvPr id="51" name="Rectangle 51"/>
          <p:cNvSpPr/>
          <p:nvPr/>
        </p:nvSpPr>
        <p:spPr>
          <a:xfrm>
            <a:off x="10172700" y="2057400"/>
            <a:ext cx="1333500" cy="400050"/>
          </a:xfrm>
          <a:prstGeom prst="rect">
            <a:avLst/>
          </a:prstGeom>
          <a:solidFill>
            <a:srgbClr val="FDEEDD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529971" y="2176939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C44F2A"/>
                </a:solidFill>
                <a:latin typeface="Arial"/>
                <a:ea typeface="Microsoft YaHei"/>
                <a:cs typeface="Arial"/>
              </a:rPr>
              <a:t>背景音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162800" y="2762250"/>
            <a:ext cx="4343400" cy="10668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7449502" y="2932271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当前模型配置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451408" y="3234214"/>
            <a:ext cx="18386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音频窗口长度：3 秒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51408" y="3462814"/>
            <a:ext cx="17734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推理采样率：16kHz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451408" y="36914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推理结果通过服务层映射为统一危险状态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162800" y="4019550"/>
            <a:ext cx="43434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449502" y="4189571"/>
            <a:ext cx="178441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真机级别验证表现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451408" y="4491514"/>
            <a:ext cx="43153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识别页面启动后，喇叭和警笛均可触发后处理告警，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451408" y="472011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系统同步切换红屏提示并播放提示音。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162800" y="5124450"/>
            <a:ext cx="4343400" cy="78105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7449502" y="5275421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结题阶段结论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452360" y="5509260"/>
            <a:ext cx="35532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离线危险声音识别已经从“模型可运行”推进到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452360" y="5718810"/>
            <a:ext cx="28521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“可在手表中触发提醒闭环”的阶段。</a:t>
            </a:r>
          </a:p>
        </p:txBody>
      </p:sp>
      <p:sp>
        <p:nvSpPr>
          <p:cNvPr id="66" name="Line 6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369570" y="6522720"/>
            <a:ext cx="46037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数据来源：traffic_inference 组件、danger_detection_service、结题报告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核心亮点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4663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系统实现与关键模块联动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3492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系统从启动到底层任务协同，已形成“界面先可用，服务后台持续接入”的运行闭环。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11430000" cy="1733550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启动与联动时序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23900" y="2171700"/>
            <a:ext cx="1714500" cy="6477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4252" y="2295525"/>
            <a:ext cx="161379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hardware_init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1052" y="25727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硬件与基础资源初始化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876550" y="2171700"/>
            <a:ext cx="1714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202936" y="2295525"/>
            <a:ext cx="10617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lvgl_task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95874" y="257270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页面创建与 UI 主循环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029200" y="2171700"/>
            <a:ext cx="1714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924282" y="2295525"/>
            <a:ext cx="1924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network_service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83029" y="25727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联网与服务就绪探测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181850" y="2171700"/>
            <a:ext cx="1714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036677" y="2295525"/>
            <a:ext cx="2004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danger_detection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12355" y="25727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危险检测后台任务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334500" y="2171700"/>
            <a:ext cx="2095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149798" y="2295525"/>
            <a:ext cx="246490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official_chat_service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67327" y="257270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AI 对话生命周期管理</a:t>
            </a:r>
          </a:p>
        </p:txBody>
      </p:sp>
      <p:sp>
        <p:nvSpPr>
          <p:cNvPr id="27" name="Line 27"/>
          <p:cNvSpPr/>
          <p:nvPr/>
        </p:nvSpPr>
        <p:spPr>
          <a:xfrm>
            <a:off x="243840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276225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459105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491490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674370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706755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889635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922020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85800" y="3238500"/>
            <a:ext cx="10820400" cy="6477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440375" y="3378518"/>
            <a:ext cx="73112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UI 主线程只负责页面刷新与状态显示，后台任务负责联网、推理和会话状态推进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39490" y="3642360"/>
            <a:ext cx="5113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这样可以降低线程竞争与界面异常风险，适合资源受限的手表平台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8140" y="411099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模块职责与联动结果</a:t>
            </a:r>
          </a:p>
        </p:txBody>
      </p:sp>
      <p:sp>
        <p:nvSpPr>
          <p:cNvPr id="39" name="Rectangle 39"/>
          <p:cNvSpPr/>
          <p:nvPr/>
        </p:nvSpPr>
        <p:spPr>
          <a:xfrm>
            <a:off x="381000" y="4514850"/>
            <a:ext cx="35814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27698" y="4687729"/>
            <a:ext cx="173071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显示与状态更新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1508" y="5024914"/>
            <a:ext cx="329112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`lvgl_task` 统一管理 LVGL 对象刷新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1508" y="52535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后台结果通过状态映射更新页面与覆盖层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1508" y="5482114"/>
            <a:ext cx="27976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危险触发时切换红屏与提示控件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305300" y="4514850"/>
            <a:ext cx="35814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51998" y="4687729"/>
            <a:ext cx="20809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联网与 AI 页面联动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55808" y="5024914"/>
            <a:ext cx="37101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页面读取 `network_service` 的联网状态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555808" y="5253514"/>
            <a:ext cx="306766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服务就绪后才允许进入 AI 对话前台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55808" y="54821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页面退出时显式停机会话，减少崩溃风险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229600" y="4514850"/>
            <a:ext cx="3581400" cy="142875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476298" y="4687729"/>
            <a:ext cx="148918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危险提示闭环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80108" y="5024914"/>
            <a:ext cx="2425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识别任务输出统一危险状态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80108" y="52535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提示音、红屏与页面状态同步联动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80108" y="5482114"/>
            <a:ext cx="33563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退出页面后可回收资源并终止后台识别</a:t>
            </a:r>
          </a:p>
        </p:txBody>
      </p:sp>
      <p:sp>
        <p:nvSpPr>
          <p:cNvPr id="54" name="Line 54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369570" y="6522720"/>
            <a:ext cx="54186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数据来源：111.c、hardware_init.c、network_service.c、danger_detection_service.c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模块联动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实物照片与界面展示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8512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当前答辩材料已能展示页面级交互效果；实物照片和结构视图可在后续补图后直接替换占位区域。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476250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28474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实物 / 结构视图展示位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076450"/>
            <a:ext cx="41529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  <a:prstDash val="dash"/>
          </a:ln>
        </p:spPr>
      </p:sp>
      <p:sp>
        <p:nvSpPr>
          <p:cNvPr id="13" name="TextBox 13"/>
          <p:cNvSpPr txBox="1"/>
          <p:nvPr/>
        </p:nvSpPr>
        <p:spPr>
          <a:xfrm>
            <a:off x="1911286" y="26060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实物照片占位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9670" y="2956560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可替换为手表整机、佩戴效果或桌面摆拍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924300"/>
            <a:ext cx="41529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1911286" y="44538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结构视图占位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4410" y="48044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可替换为硬件结构、模块布局或系统结构示意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429250" y="1381125"/>
            <a:ext cx="638175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11190" y="15773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当前界面证据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34050" y="2057400"/>
            <a:ext cx="2571750" cy="33528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pic>
        <p:nvPicPr>
          <p:cNvPr id="21" name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5" y="2247900"/>
            <a:ext cx="1943100" cy="2914650"/>
          </a:xfrm>
          <a:prstGeom prst="rect">
            <a:avLst/>
          </a:prstGeom>
        </p:spPr>
      </p:pic>
      <p:sp>
        <p:nvSpPr>
          <p:cNvPr id="22" name="Rectangle 22"/>
          <p:cNvSpPr/>
          <p:nvPr/>
        </p:nvSpPr>
        <p:spPr>
          <a:xfrm>
            <a:off x="5924550" y="2247900"/>
            <a:ext cx="2190750" cy="2914650"/>
          </a:xfrm>
          <a:prstGeom prst="rect">
            <a:avLst/>
          </a:prstGeom>
          <a:noFill/>
          <a:ln w="9525">
            <a:solidFill>
              <a:srgbClr val="C9D7E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85215" y="54740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主界面展示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09034" y="572690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入口清晰，适合作为多功能手表主页面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763000" y="2057400"/>
            <a:ext cx="2571750" cy="33528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325" y="2247900"/>
            <a:ext cx="1943100" cy="2914650"/>
          </a:xfrm>
          <a:prstGeom prst="rect">
            <a:avLst/>
          </a:prstGeom>
        </p:spPr>
      </p:pic>
      <p:sp>
        <p:nvSpPr>
          <p:cNvPr id="27" name="Rectangle 27"/>
          <p:cNvSpPr/>
          <p:nvPr/>
        </p:nvSpPr>
        <p:spPr>
          <a:xfrm>
            <a:off x="8953500" y="2247900"/>
            <a:ext cx="2190750" cy="2914650"/>
          </a:xfrm>
          <a:prstGeom prst="rect">
            <a:avLst/>
          </a:prstGeom>
          <a:noFill/>
          <a:ln w="9525">
            <a:solidFill>
              <a:srgbClr val="C9D7E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498638" y="5474018"/>
            <a:ext cx="11004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AI 对话页面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37984" y="572690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可显示联网状态、消息气泡与交互入口</a:t>
            </a:r>
          </a:p>
        </p:txBody>
      </p:sp>
      <p:sp>
        <p:nvSpPr>
          <p:cNvPr id="30" name="Line 3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69570" y="6522720"/>
            <a:ext cx="27832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数据来源：用户提供的界面截图与答辩素材目录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效果展示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0805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 结题成果与创新点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5408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项目已完成阶段性原型建设，并形成面向助残场景的嵌入式系统创新组合。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360045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65798" y="1563529"/>
            <a:ext cx="66798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9608" y="188166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完成可运行手表原型与多页面交互底座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95775" y="1381125"/>
            <a:ext cx="3600450" cy="91440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80572" y="1563529"/>
            <a:ext cx="72836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84382" y="188166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完成离线危险声音识别与告警闭环验证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210550" y="1381125"/>
            <a:ext cx="3600450" cy="91440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495348" y="1563529"/>
            <a:ext cx="72836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9158" y="1881664"/>
            <a:ext cx="30956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接入 AI 对话扩展链路并形成联网底座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81000" y="2590800"/>
            <a:ext cx="360045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62940" y="27965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阶段成果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8655" y="3207068"/>
            <a:ext cx="27650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已构建以 ESP32-S3 为核心的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8655" y="3454718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可穿戴交互平台。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655" y="3740468"/>
            <a:ext cx="34650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已打通显示、触摸、音频采集/播放、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8655" y="3988118"/>
            <a:ext cx="27453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Wi-Fi 配网与页面级状态反馈。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8655" y="4273868"/>
            <a:ext cx="29622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已形成可继续扩展的工程底座。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85800" y="5353050"/>
            <a:ext cx="1314450" cy="3048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11173" y="54316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原型验证成立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95775" y="2590800"/>
            <a:ext cx="360045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77715" y="27965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创新点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83430" y="3207068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端侧 AI 与助残需求相结合，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83430" y="345471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聚焦高价值危险声音识别。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83430" y="3740468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把识别结果转化为红屏与提示音，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83430" y="39881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形成可感知的用户反馈。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83430" y="4273868"/>
            <a:ext cx="37508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以模块化方式组织系统，便于后续扩展。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600575" y="5353050"/>
            <a:ext cx="1314450" cy="304800"/>
          </a:xfrm>
          <a:prstGeom prst="rect">
            <a:avLst/>
          </a:prstGeom>
          <a:solidFill>
            <a:srgbClr val="FDEED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725948" y="54316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4F2A"/>
                </a:solidFill>
                <a:latin typeface="Arial"/>
                <a:ea typeface="Microsoft YaHei"/>
                <a:cs typeface="Arial"/>
              </a:rPr>
              <a:t>工程创新组合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210550" y="2590800"/>
            <a:ext cx="360045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492490" y="27965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阶段价值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98205" y="3207068"/>
            <a:ext cx="2952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为后续引入传感器、BLE 协同、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98205" y="3454718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用户研究与产品化验证提供底座。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98205" y="3740468"/>
            <a:ext cx="27650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证明团队具备从需求到实现、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98205" y="398811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再到调试验证的完整工程能力。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98205" y="4273868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具备继续深化和迭代的现实基础。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515350" y="5353050"/>
            <a:ext cx="1314450" cy="3048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726984" y="5431631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可持续扩展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522720"/>
            <a:ext cx="29146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数据来源：项目结题报告、仓库实现与上下文资料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成果总结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 存在问题与后续展望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8512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当前结题已证明核心路线可行，下一阶段重点是把功能做深、把稳定性做实、把用户验证做完整。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495300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当前仍存在的问题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076450"/>
            <a:ext cx="43434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34402" y="2227421"/>
            <a:ext cx="269130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1. 功能完整度仍有提升空间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6308" y="2510314"/>
            <a:ext cx="62146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心率、BLE/手机协同、长期低功耗优化等设想尚未在当前仓库中完整落地。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200400"/>
            <a:ext cx="43434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4402" y="3351371"/>
            <a:ext cx="296446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2. 识别类别与数据集仍需扩展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6308" y="3634264"/>
            <a:ext cx="59912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目前主要聚焦喇叭和警笛，后续还需引入更多真实道路场景与声音类别。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4324350"/>
            <a:ext cx="43434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4402" y="4475321"/>
            <a:ext cx="340151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3. 稳定性与用户研究仍需继续完善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6308" y="4758214"/>
            <a:ext cx="6577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AI 对话弱网表现、长时间运行边界，以及正式用户测试与可用性评价还不充分。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619750" y="1381125"/>
            <a:ext cx="619125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901690" y="1577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后续展望</a:t>
            </a:r>
          </a:p>
        </p:txBody>
      </p:sp>
      <p:sp>
        <p:nvSpPr>
          <p:cNvPr id="23" name="Line 23"/>
          <p:cNvSpPr/>
          <p:nvPr/>
        </p:nvSpPr>
        <p:spPr>
          <a:xfrm>
            <a:off x="6667500" y="2247900"/>
            <a:ext cx="9525" cy="3009900"/>
          </a:xfrm>
          <a:custGeom>
            <a:avLst/>
            <a:gdLst/>
            <a:ahLst/>
            <a:cxnLst/>
            <a:rect l="l" t="t" r="r" b="b"/>
            <a:pathLst>
              <a:path w="9525" h="3009900">
                <a:moveTo>
                  <a:pt x="0" y="0"/>
                </a:moveTo>
                <a:lnTo>
                  <a:pt x="0" y="3009900"/>
                </a:lnTo>
              </a:path>
            </a:pathLst>
          </a:custGeom>
          <a:noFill/>
          <a:ln w="38100">
            <a:solidFill>
              <a:srgbClr val="5B8FD9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6534150" y="2305050"/>
            <a:ext cx="266700" cy="2667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6534150" y="3619500"/>
            <a:ext cx="266700" cy="2667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6534150" y="4933950"/>
            <a:ext cx="266700" cy="266700"/>
          </a:xfrm>
          <a:prstGeom prst="ellipse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048500" y="2057400"/>
            <a:ext cx="4286250" cy="78105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316152" y="2208371"/>
            <a:ext cx="28770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阶段一：补强感知与通信能力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19010" y="2442210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扩展声音类别，继续引入传感器、BLE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19010" y="26517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和更多外围联动能力。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048500" y="3371850"/>
            <a:ext cx="4286250" cy="78105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316152" y="3522821"/>
            <a:ext cx="30955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阶段二：补强稳定性与功耗验证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19010" y="375666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优化网络异常恢复、长时间运行表现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19010" y="396621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和低功耗策略，形成更稳定的样机。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048500" y="4686300"/>
            <a:ext cx="4286250" cy="781050"/>
          </a:xfrm>
          <a:prstGeom prst="rect">
            <a:avLst/>
          </a:prstGeom>
          <a:solidFill>
            <a:srgbClr val="EAF1FB"/>
          </a:solidFill>
          <a:ln w="9525">
            <a:solidFill>
              <a:srgbClr val="C9D7E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316152" y="4837271"/>
            <a:ext cx="331410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阶段三：补强用户研究与成果沉淀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19010" y="507111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组织真实用户测试，完善演示材料，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319010" y="52806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并推进软著、专利等成果整理。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924550" y="5619750"/>
            <a:ext cx="5410200" cy="3238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498145" y="5699760"/>
            <a:ext cx="42630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当前项目已经具备继续深化和产品化验证的工程基础</a:t>
            </a:r>
          </a:p>
        </p:txBody>
      </p:sp>
      <p:sp>
        <p:nvSpPr>
          <p:cNvPr id="41" name="Line 4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69570" y="6522720"/>
            <a:ext cx="34404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数据来源：项目结题报告中的问题与建议、项目上下文文档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后续展望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