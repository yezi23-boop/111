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各位老师好，我汇报的项目是“基于AI大模型的声纹感知助残智能手表”，这是我们校级大学生创新创业训练计划项目的结题答辩。[停顿]</a:t>
            </a:r>
          </a:p>
          <a:p>
            <a:r>
              <a:rPr lang="zh-CN" dirty="0"/>
              <a:t>本项目围绕助残场景，重点完成了可穿戴交互底座、离线危险声音识别，以及联网 AI 对话扩展链路的阶段性验证。</a:t>
            </a:r>
          </a:p>
          <a:p>
            <a:endParaRPr lang="zh-CN" dirty="0"/>
          </a:p>
          <a:p>
            <a:r>
              <a:rPr lang="zh-CN" dirty="0"/>
              <a:t>要点：① 交代项目名称与答辩主题 ② 说明本次汇报聚焦阶段性成果 ③ 引出后续技术亮点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首先说明我们为什么要做这个项目。</a:t>
            </a:r>
          </a:p>
          <a:p>
            <a:r>
              <a:rPr lang="zh-CN" dirty="0"/>
              <a:t>对于视障和听障群体来说，日常出行和交流中有大量关键环境信息是通过声音传递的，例如鸣笛、警笛和他人呼叫。[停顿]</a:t>
            </a:r>
          </a:p>
          <a:p>
            <a:r>
              <a:rPr lang="zh-CN" dirty="0"/>
              <a:t>因此，我们希望把这些高风险声音信息转化为腕上设备可及时理解的反馈，并进一步探索在嵌入式端稳定落地的可能性。</a:t>
            </a:r>
          </a:p>
          <a:p>
            <a:endParaRPr lang="zh-CN" dirty="0"/>
          </a:p>
          <a:p>
            <a:r>
              <a:rPr lang="zh-CN" dirty="0"/>
              <a:t>要点：① 助残场景需求明确 ② 危险声音感知具有现实价值 ③ 工程落地难度也是研究意义的一部分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在明确需求以后，我们没有平均用力，而是做了阶段性的路线收敛。</a:t>
            </a:r>
          </a:p>
          <a:p>
            <a:r>
              <a:rPr lang="zh-CN" dirty="0"/>
              <a:t>立项目标原本比较完整，但在实际推进中，我们优先聚焦三个方面：嵌入式交互底座、离线危险识别，以及联网 AI 扩展。[停顿]</a:t>
            </a:r>
          </a:p>
          <a:p>
            <a:r>
              <a:rPr lang="zh-CN" dirty="0"/>
              <a:t>这样做的目的，是先形成一个真正可运行、可验证、可继续迭代的原型，而不是只停留在功能设想层面。</a:t>
            </a:r>
          </a:p>
          <a:p>
            <a:endParaRPr lang="zh-CN" dirty="0"/>
          </a:p>
          <a:p>
            <a:r>
              <a:rPr lang="zh-CN" dirty="0"/>
              <a:t>要点：① 说明立项目标与当前阶段的关系 ② 强调三条主线 ③ 说明“阶段性原型验证”的定位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接下来介绍系统整体是怎样组织起来的。</a:t>
            </a:r>
          </a:p>
          <a:p>
            <a:r>
              <a:rPr lang="zh-CN" dirty="0"/>
              <a:t>当前系统已经形成显示触摸、联网服务、危险检测和 AI 对话四个关键模块，并由 ESP32-S3 作为主控统一调度。[停顿]</a:t>
            </a:r>
          </a:p>
          <a:p>
            <a:r>
              <a:rPr lang="zh-CN" dirty="0"/>
              <a:t>整体运行模式是前台界面优先可用，后台持续完成联网探测、危险识别和会话准备，这样更符合手表类设备的使用场景。</a:t>
            </a:r>
          </a:p>
          <a:p>
            <a:endParaRPr lang="zh-CN" dirty="0"/>
          </a:p>
          <a:p>
            <a:r>
              <a:rPr lang="zh-CN" dirty="0"/>
              <a:t>要点：① 明确四个关键模块 ② 说明模块间关系 ③ 强调前后台分工的工程价值</a:t>
            </a:r>
          </a:p>
          <a:p>
            <a:r>
              <a:rPr lang="zh-CN" dirty="0"/>
              <a:t>时长：0.7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这也是本次结题答辩最核心的一页。</a:t>
            </a:r>
          </a:p>
          <a:p>
            <a:r>
              <a:rPr lang="zh-CN" dirty="0"/>
              <a:t>我们的危险声音识别链路部署在端侧，本地完成音频采集、重采样、滑窗推理和后处理，不依赖云端实时返回。[停顿]</a:t>
            </a:r>
          </a:p>
          <a:p>
            <a:r>
              <a:rPr lang="zh-CN" dirty="0"/>
              <a:t>当前重点覆盖喇叭、警笛和背景音三类结果，并且已经在真机上实现识别后联动红屏与提示音，这说明它不只是模型演示，而是已经进入实际交互闭环。</a:t>
            </a:r>
          </a:p>
          <a:p>
            <a:endParaRPr lang="zh-CN" dirty="0"/>
          </a:p>
          <a:p>
            <a:r>
              <a:rPr lang="zh-CN" dirty="0"/>
              <a:t>要点：① 说明为什么必须做离线识别 ② 讲清楚处理流程 ③ 强调真机告警闭环已经跑通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在核心识别能力之外，我们也重点处理了系统级联动问题。</a:t>
            </a:r>
          </a:p>
          <a:p>
            <a:r>
              <a:rPr lang="zh-CN" dirty="0"/>
              <a:t>从启动流程看，硬件初始化、LVGL 主任务、网络服务、危险检测服务和 AI 对话服务已经形成清晰分工。[停顿]</a:t>
            </a:r>
          </a:p>
          <a:p>
            <a:r>
              <a:rPr lang="zh-CN" dirty="0"/>
              <a:t>尤其是 UI 单线程刷新与后台任务并行运行的设计，帮助我们降低了线程竞争和界面异常风险，也让识别、联网和页面展示能够协同工作。</a:t>
            </a:r>
          </a:p>
          <a:p>
            <a:endParaRPr lang="zh-CN" dirty="0"/>
          </a:p>
          <a:p>
            <a:r>
              <a:rPr lang="zh-CN" dirty="0"/>
              <a:t>要点：① 说明系统不是单模块堆叠 ② 强调服务之间的职责划分 ③ 突出界面、识别和联网的联动闭环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这一页主要展示当前原型的可视化表现。</a:t>
            </a:r>
          </a:p>
          <a:p>
            <a:r>
              <a:rPr lang="zh-CN" dirty="0"/>
              <a:t>目前答辩材料中已经整理出主界面截图和 AI 对话页面截图，可以看到页面入口、状态展示和消息区已经形成比较清晰的交互骨架。[停顿]</a:t>
            </a:r>
          </a:p>
          <a:p>
            <a:r>
              <a:rPr lang="zh-CN" dirty="0"/>
              <a:t>左侧预留了实物照片和结构视图位置，后续补入实拍素材后，可以更完整地支撑项目展示。</a:t>
            </a:r>
          </a:p>
          <a:p>
            <a:endParaRPr lang="zh-CN" dirty="0"/>
          </a:p>
          <a:p>
            <a:r>
              <a:rPr lang="zh-CN" dirty="0"/>
              <a:t>要点：① 展示当前已有页面证据 ② 说明原型具备实际界面形态 ③ 交代实物图后续可继续补强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综合来看，本项目已经完成了较扎实的阶段性成果。</a:t>
            </a:r>
          </a:p>
          <a:p>
            <a:r>
              <a:rPr lang="zh-CN" dirty="0"/>
              <a:t>第一，我们完成了可运行手表原型和多页面交互底座；第二，完成了离线危险声音识别与提示闭环；第三，完成了联网 AI 对话扩展底座的接入。[停顿]</a:t>
            </a:r>
          </a:p>
          <a:p>
            <a:r>
              <a:rPr lang="zh-CN" dirty="0"/>
              <a:t>项目的创新点主要体现在端侧 AI、助残导向设计和模块化系统集成三者的结合，这也构成了项目的核心特色。</a:t>
            </a:r>
          </a:p>
          <a:p>
            <a:endParaRPr lang="zh-CN" dirty="0"/>
          </a:p>
          <a:p>
            <a:r>
              <a:rPr lang="zh-CN" dirty="0"/>
              <a:t>要点：① 概括三项阶段性成果 ② 提炼项目创新点 ③ 说明其对后续迭代的价值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最后汇报目前仍存在的问题以及下一步方向。</a:t>
            </a:r>
          </a:p>
          <a:p>
            <a:r>
              <a:rPr lang="zh-CN" dirty="0"/>
              <a:t>和立项设想相比，心率、BLE 协同、更多识别类别、长期稳定性和正式用户研究还需要继续推进。[停顿]</a:t>
            </a:r>
          </a:p>
          <a:p>
            <a:r>
              <a:rPr lang="zh-CN" dirty="0"/>
              <a:t>但从当前结果看，项目已经建立起较完整的工程底座，后续只要沿着感知扩展、稳定性优化和用户验证三条线继续深化，就具备进一步产品化验证的基础。</a:t>
            </a:r>
          </a:p>
          <a:p>
            <a:endParaRPr lang="zh-CN" dirty="0"/>
          </a:p>
          <a:p>
            <a:r>
              <a:rPr lang="zh-CN" dirty="0"/>
              <a:t>要点：① 坦诚说明当前不足 ② 给出清晰的后续路线 ③ 以“具备继续深化基础”作为结尾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png"/>
  <Relationship Id="rId3" Type="http://schemas.openxmlformats.org/officeDocument/2006/relationships/image" Target="../media/s7_img2.pn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5B8FD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95250" cy="10287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715500" y="266700"/>
            <a:ext cx="1905000" cy="43815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559009" y="364808"/>
            <a:ext cx="2217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SRP FINAL DEFENSE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rgbClr val="5B8FD9">
                  <a:alpha val="22000"/>
                </a:srgbClr>
              </a:gs>
              <a:gs pos="100000">
                <a:srgbClr val="5B8F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76300" y="1676400"/>
            <a:ext cx="1390650" cy="342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8859" y="17673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项目结题答辩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8754" y="2528888"/>
            <a:ext cx="403449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基于AI大模型的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3016" y="3157538"/>
            <a:ext cx="5845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声纹感知助残智能手表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20900" y="3781901"/>
            <a:ext cx="675020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校级大学生创新创业训练计划项目（SRP）结题答辩</a:t>
            </a:r>
          </a:p>
        </p:txBody>
      </p:sp>
      <p:sp>
        <p:nvSpPr>
          <p:cNvPr id="13" name="Line 13"/>
          <p:cNvSpPr/>
          <p:nvPr/>
        </p:nvSpPr>
        <p:spPr>
          <a:xfrm>
            <a:off x="3733800" y="4343400"/>
            <a:ext cx="4724400" cy="9525"/>
          </a:xfrm>
          <a:custGeom>
            <a:avLst/>
            <a:gdLst/>
            <a:ahLst/>
            <a:cxnLst/>
            <a:rect l="l" t="t" r="r" b="b"/>
            <a:pathLst>
              <a:path w="4724400" h="952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19050">
            <a:solidFill>
              <a:srgbClr val="5B8FD9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38850" y="4286250"/>
            <a:ext cx="114300" cy="1143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571750" y="4762500"/>
            <a:ext cx="7048500" cy="1123950"/>
          </a:xfrm>
          <a:prstGeom prst="rect">
            <a:avLst/>
          </a:prstGeom>
          <a:solidFill>
            <a:srgbClr val="F7FAFE"/>
          </a:solidFill>
          <a:ln w="9525">
            <a:solidFill>
              <a:srgbClr val="C9D7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181350" y="50006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答辩人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29100" y="5000625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朱烨俊 等项目成员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19850" y="5000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指导教师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58100" y="50006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陈玉霞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81350" y="54197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学院专业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29100" y="5419725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汽车与交通工程学院 · 智能车辆工程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9600" y="54197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6350" y="5419725"/>
            <a:ext cx="12758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2026 年 4 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951065" y="6535102"/>
            <a:ext cx="4289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广州城市理工学院 · 校级大学生创新创业训练计划项目（SRP）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项目背景与研究意义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379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助残设备的关键价值，在于把高风险环境信息转化为用户可及时理解的反馈。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143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114300" cy="471487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00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典型使用痛点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42950" y="20383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14400" y="22479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18601" y="23117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4452" y="22083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视障用户难以及时感知危险声源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358" y="2510314"/>
            <a:ext cx="3384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鸣笛、警笛等声音与出行安全直接相关，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358" y="27389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但传统方案难以在贴身设备上完成实时提醒。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42950" y="32194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14400" y="34290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92723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452" y="33894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听障用户需要更直观的信息转化方式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6358" y="36914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关键声音若能转化为视觉、状态或触觉提示，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6358" y="392001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可以明显降低获取外界信息的门槛。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" y="4400550"/>
            <a:ext cx="4419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914400" y="46101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92723" y="4673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4452" y="45705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嵌入式可穿戴平台的实现门槛并不低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6358" y="48725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智能手表同时受限于算力、内存、屏幕尺寸与交互方式，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8" y="5101114"/>
            <a:ext cx="47249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项目不仅要证明“能做”，还要证明“能在端侧稳定运行”。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72150" y="1381125"/>
            <a:ext cx="60388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0921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15050" y="2038350"/>
            <a:ext cx="5353050" cy="1104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81750" y="2200275"/>
            <a:ext cx="28329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面向助残场景的工程价值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84608" y="2510314"/>
            <a:ext cx="4873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把高风险声音识别、界面交互和联网能力结合到腕上设备，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84608" y="27389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探索更轻量、更贴身的辅助感知方案。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15050" y="3295650"/>
            <a:ext cx="5353050" cy="11049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381750" y="3457575"/>
            <a:ext cx="3454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面向嵌入式端侧 AI 的实践价值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84608" y="37676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项目聚焦 ESP32-S3 上的离线识别、线程边界、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84608" y="3996214"/>
            <a:ext cx="38404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后台联网与 UI 协同，具有典型工程训练意义。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15050" y="4552950"/>
            <a:ext cx="5353050" cy="1200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80798" y="4735354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一句话概括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83655" y="507396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本项目并非单点功能演示，而是围绕助残需求，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83655" y="5302568"/>
            <a:ext cx="5042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完成“可穿戴交互 + 离线识别 + 联网扩展”的系统化验证。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382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立项申请表、结题报告书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项目目标与总体方案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57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结题阶段的核心不是“把所有设想一次做完”，而是先打通最关键的技术闭环。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524500" cy="16954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立项目标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655" y="1987868"/>
            <a:ext cx="47367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面向智能手表形态，探索时间显示、环境声音识别、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655" y="2245042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人机交互、联网服务和后续手机协同的综合方案。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8655" y="25022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形成兼具助残应用价值和嵌入式工程训练意义的样机。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381125"/>
            <a:ext cx="5524500" cy="16954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68440" y="15773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阶段性取舍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4155" y="1987868"/>
            <a:ext cx="5614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优先完成嵌入式交互底座、危险声音离线识别、联网 AI 扩展。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74155" y="2245042"/>
            <a:ext cx="5170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心率、BLE/手机联动、长期低功耗优化保留到下一阶段。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155" y="2502218"/>
            <a:ext cx="56042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当前成果定位为“原型样机 + 核心能力验证 + 技术底座建设”。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8140" y="33489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总体方案三条主线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81000" y="3771900"/>
            <a:ext cx="3600450" cy="1143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4845" y="4050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嵌入式交互底座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608" y="4415314"/>
            <a:ext cx="34959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基于 ESP32-S3 + ESP-IDF 搭建主控系统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608" y="4643914"/>
            <a:ext cx="3076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LVGL 完成显示、触摸和多页面交互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608" y="4872514"/>
            <a:ext cx="28814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提供可持续扩展的 UI 与任务骨架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6812" y="5441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系统可用性基础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295775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295775" y="3771900"/>
            <a:ext cx="3600450" cy="1143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79620" y="4050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离线危险识别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4382" y="44153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端侧部署危险声音分类模型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4382" y="46439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打通采集、推理、后处理、告警输出链路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4382" y="4872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优先聚焦喇叭、警笛等高价值场景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72100"/>
            <a:ext cx="1238250" cy="2857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87848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核心亮点模块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210550" y="3771900"/>
            <a:ext cx="3600450" cy="1143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94395" y="4050982"/>
            <a:ext cx="14209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 AI 扩展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9158" y="44153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复用配网链路与后台网络状态管理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9158" y="46439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接入 official_chat 对话能力底座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9158" y="4872514"/>
            <a:ext cx="3170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为后续助残交互与服务扩展预留空间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1535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602623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后续扩展入口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513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立项申请表、项目结题报告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总体方案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系统架构与关键模块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920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系统采用前后台分工方式运行：前台负责交互可用，后台持续完成联网、识别与服务调度。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810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系统架构模块框图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400300" y="2952750"/>
            <a:ext cx="1866900" cy="11049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729870" y="3195161"/>
            <a:ext cx="120776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ESP32-S3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9596" y="35390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主控与任务调度中心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4551" y="1981200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466" y="2280285"/>
            <a:ext cx="2010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LVGL + CO5300 + FT5x06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1480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502468" y="1981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3538" y="2280285"/>
            <a:ext cx="21160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 + 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06818" y="4552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5310" y="4852035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traffic_inference + alert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1480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600230" y="4552950"/>
            <a:ext cx="7626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41838" y="48520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7" name="Line 27"/>
          <p:cNvSpPr/>
          <p:nvPr/>
        </p:nvSpPr>
        <p:spPr>
          <a:xfrm>
            <a:off x="25527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895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123825"/>
                </a:moveTo>
                <a:lnTo>
                  <a:pt x="0" y="95250"/>
                </a:lnTo>
                <a:lnTo>
                  <a:pt x="57150" y="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36576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3657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123825"/>
                </a:moveTo>
                <a:lnTo>
                  <a:pt x="57150" y="0"/>
                </a:lnTo>
                <a:lnTo>
                  <a:pt x="114300" y="9525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25527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2895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2857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6576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3657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0"/>
                </a:moveTo>
                <a:lnTo>
                  <a:pt x="114300" y="2857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5486400"/>
            <a:ext cx="520065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6360" y="5605939"/>
            <a:ext cx="53995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前台界面可立即使用，后台网络与 AI 服务持续探测并延后就绪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1381125"/>
            <a:ext cx="5334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5894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关键模块说明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781800" y="20383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9452" y="2189321"/>
            <a:ext cx="15986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触摸模块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51358" y="2462689"/>
            <a:ext cx="58888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负责手表页面显示、触摸输入与 UI 主线程刷新，保证交互层稳定运行。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781800" y="30670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049452" y="32180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联网模块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51358" y="3491389"/>
            <a:ext cx="62705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 Wi-Fi 自动连接、配网入口与服务可用性探测，为 AI 页提供状态依据。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781800" y="4095750"/>
            <a:ext cx="4724400" cy="87630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49452" y="42467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危险检测模块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051358" y="4520089"/>
            <a:ext cx="60936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负责离线音频推理、状态判定和红屏/提示音联动，是安全感知核心路径。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781800" y="5124450"/>
            <a:ext cx="4724400" cy="87630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049452" y="5275421"/>
            <a:ext cx="11616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对话模块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51358" y="5548789"/>
            <a:ext cx="61774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负责联网后进入对话前台、消息缓存、页面状态切换与会话生命周期管理。</a:t>
            </a:r>
          </a:p>
        </p:txBody>
      </p:sp>
      <p:sp>
        <p:nvSpPr>
          <p:cNvPr id="51" name="Line 5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69570" y="65227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数据来源：项目上下文文档、结题报告书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7245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离线模型识别危险信号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识别链路部署在端侧，本地即可完成危险声音感知与提醒，不依赖云端实时返回。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6191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离线识别流程图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2597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音频采集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409" y="25441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麦克风输入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57175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81192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通道抽取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47035" y="25441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主麦声道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77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07137" y="227504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重采样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48962" y="254412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24kHz → 16kHz</a:t>
            </a:r>
          </a:p>
        </p:txBody>
      </p:sp>
      <p:sp>
        <p:nvSpPr>
          <p:cNvPr id="21" name="Line 21"/>
          <p:cNvSpPr/>
          <p:nvPr/>
        </p:nvSpPr>
        <p:spPr>
          <a:xfrm>
            <a:off x="207645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245745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396240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434340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62877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868948" y="35513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滑窗推理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5561" y="38204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3 秒窗口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51472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64162" y="355139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后处理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9981" y="38204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阈值与状态判定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400675" y="3429000"/>
            <a:ext cx="866775" cy="7048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5129" y="35594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44406" y="3820478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红屏 + 提示音</a:t>
            </a:r>
          </a:p>
        </p:txBody>
      </p:sp>
      <p:sp>
        <p:nvSpPr>
          <p:cNvPr id="34" name="Line 34"/>
          <p:cNvSpPr/>
          <p:nvPr/>
        </p:nvSpPr>
        <p:spPr>
          <a:xfrm>
            <a:off x="2324100" y="2857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2266950" y="3314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301942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340042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490537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528637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85800" y="4552950"/>
            <a:ext cx="55816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33450" y="47148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为什么要强调离线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6308" y="5043964"/>
            <a:ext cx="44735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危险声音提醒必须具备及时性，不能依赖网络往返。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6308" y="5272564"/>
            <a:ext cx="50322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无网或弱网环境下，手表仍需保留最基本的安全感知能力。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308" y="5501164"/>
            <a:ext cx="3914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端侧识别更符合可穿戴设备的独立运行需求。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858000" y="1381125"/>
            <a:ext cx="4953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139940" y="15773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当前识别结果与验证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6280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61783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喇叭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66775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2278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警笛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172700" y="2057400"/>
            <a:ext cx="1333500" cy="4000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529971" y="2176939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背景音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62800" y="2762250"/>
            <a:ext cx="4343400" cy="1066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449502" y="293227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当前模型配置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51408" y="3234214"/>
            <a:ext cx="18386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音频窗口长度：3 秒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51408" y="3462814"/>
            <a:ext cx="17734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推理采样率：16kHz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51408" y="36914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推理结果通过服务层映射为统一危险状态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162800" y="4019550"/>
            <a:ext cx="43434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49502" y="4189571"/>
            <a:ext cx="17844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真机级别验证表现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51408" y="449151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识别页面启动后，喇叭和警笛均可触发后处理告警，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51408" y="47201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系统同步切换红屏提示并播放提示音。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162800" y="5124450"/>
            <a:ext cx="434340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7449502" y="52754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结题阶段结论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51408" y="5558314"/>
            <a:ext cx="62146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离线危险声音识别已经从“模型可运行”推进到“可在手表中触发提醒闭环”。</a:t>
            </a:r>
          </a:p>
        </p:txBody>
      </p:sp>
      <p:sp>
        <p:nvSpPr>
          <p:cNvPr id="65" name="Line 6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69570" y="6522720"/>
            <a:ext cx="4603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数据来源：traffic_inference 组件、danger_detection_service、结题报告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核心亮点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466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系统实现与关键模块联动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3492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系统从启动到底层任务协同，已形成“界面先可用，服务后台持续接入”的运行闭环。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11430000" cy="17335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启动与联动时序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" y="2171700"/>
            <a:ext cx="1714500" cy="6477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252" y="2295525"/>
            <a:ext cx="16137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hardware_init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52" y="25727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硬件与基础资源初始化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765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202936" y="22955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lvgl_task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5874" y="25727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页面创建与 UI 主循环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02920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924282" y="2295525"/>
            <a:ext cx="1924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network_service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3029" y="2572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联网与服务就绪探测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818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036677" y="2295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danger_detection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2355" y="2572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危险检测后台任务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334500" y="217170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49798" y="2295525"/>
            <a:ext cx="24649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7327" y="25727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对话生命周期管理</a:t>
            </a:r>
          </a:p>
        </p:txBody>
      </p:sp>
      <p:sp>
        <p:nvSpPr>
          <p:cNvPr id="27" name="Line 27"/>
          <p:cNvSpPr/>
          <p:nvPr/>
        </p:nvSpPr>
        <p:spPr>
          <a:xfrm>
            <a:off x="24384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7622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45910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9149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67437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70675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8963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2202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3238500"/>
            <a:ext cx="10820400" cy="647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440375" y="3378518"/>
            <a:ext cx="7311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UI 主线程只负责页面刷新与状态显示，后台任务负责联网、推理和会话状态推进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39490" y="3642360"/>
            <a:ext cx="511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这样可以降低线程竞争与界面异常风险，适合资源受限的手表平台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8140" y="41109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模块职责与联动结果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98" y="4687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显示与状态更新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1508" y="5024914"/>
            <a:ext cx="32911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`lvgl_task` 统一管理 LVGL 对象刷新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1508" y="52535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后台结果通过状态映射更新页面与覆盖层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508" y="548211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危险触发时切换红屏与提示控件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053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51998" y="4687729"/>
            <a:ext cx="20809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联网与 AI 页面联动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5808" y="5024914"/>
            <a:ext cx="37101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页面读取 `network_service` 的联网状态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5808" y="5253514"/>
            <a:ext cx="30676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服务就绪后才允许进入 AI 对话前台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55808" y="54821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页面退出时显式停机会话，减少崩溃风险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29600" y="4514850"/>
            <a:ext cx="3581400" cy="14287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6298" y="4687729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危险提示闭环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80108" y="50249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识别任务输出统一危险状态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80108" y="5253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提示音、红屏与页面状态同步联动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80108" y="5482114"/>
            <a:ext cx="33563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退出页面后可回收资源并终止后台识别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69570" y="6522720"/>
            <a:ext cx="54186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数据来源：111.c、hardware_init.c、network_service.c、danger_detection_service.c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模块联动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实物照片与界面展示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当前答辩材料已能展示页面级交互效果；实物照片和结构视图可在后续补图后直接替换占位区域。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762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8474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实物 / 结构视图展示位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1911286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实物照片占位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670" y="29565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可替换为手表整机、佩戴效果或桌面摆拍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92430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1911286" y="44538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结构视图占位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410" y="48044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可替换为硬件结构、模块布局或系统结构示意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29250" y="1381125"/>
            <a:ext cx="63817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111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当前界面证据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3405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2247900"/>
            <a:ext cx="1943100" cy="291465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592455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85215" y="5474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主界面展示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0903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入口清晰，适合作为多功能手表主页面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76300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2247900"/>
            <a:ext cx="1943100" cy="2914650"/>
          </a:xfrm>
          <a:prstGeom prst="rect">
            <a:avLst/>
          </a:prstGeom>
        </p:spPr>
      </p:pic>
      <p:sp>
        <p:nvSpPr>
          <p:cNvPr id="27" name="Rectangle 27"/>
          <p:cNvSpPr/>
          <p:nvPr/>
        </p:nvSpPr>
        <p:spPr>
          <a:xfrm>
            <a:off x="895350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98638" y="547401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对话页面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798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可显示联网状态、消息气泡与交互入口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数据来源：用户提供的界面截图与答辩素材目录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效果展示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结题成果与创新点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项目已完成阶段性原型建设，并形成面向助残场景的嵌入式系统创新组合。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0045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5798" y="1563529"/>
            <a:ext cx="66798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608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完成可运行手表原型与多页面交互底座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95775" y="1381125"/>
            <a:ext cx="3600450" cy="9144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80572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4382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完成离线危险声音识别与告警闭环验证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210550" y="1381125"/>
            <a:ext cx="3600450" cy="9144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95348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9158" y="1881664"/>
            <a:ext cx="30956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接入 AI 对话扩展链路并形成联网底座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8100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294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阶段成果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8655" y="32070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已构建以 ESP32-S3 为核心的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655" y="345471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可穿戴交互平台。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655" y="3740468"/>
            <a:ext cx="3465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已打通显示、触摸、音频采集/播放、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8655" y="3988118"/>
            <a:ext cx="27453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配网与页面级状态反馈。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655" y="427386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已形成可继续扩展的工程底座。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580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1173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原型验证成立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95775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77715" y="27965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创新点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83430" y="32070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 AI 与助残需求相结合，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83430" y="34547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聚焦高价值危险声音识别。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3430" y="37404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把识别结果转化为红屏与提示音，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3430" y="39881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形成可感知的用户反馈。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3430" y="4273868"/>
            <a:ext cx="3750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以模块化方式组织系统，便于后续扩展。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53050"/>
            <a:ext cx="1314450" cy="30480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25948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工程创新组合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49249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205" y="3207068"/>
            <a:ext cx="2952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为后续引入传感器、BLE 协同、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8205" y="34547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用户研究与产品化验证提供底座。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8205" y="37404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证明团队具备从需求到实现、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8205" y="39881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再到调试验证的完整工程能力。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98205" y="42738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具备继续深化和迭代的现实基础。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1535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726984" y="54316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可持续扩展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52272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数据来源：项目结题报告、仓库实现与上下文资料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成果总结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存在问题与后续展望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当前结题已证明核心路线可行，下一阶段重点是把功能做深、把稳定性做实、把用户验证做完整。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9530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当前仍存在的问题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4402" y="2227421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功能完整度仍有提升空间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308" y="2510314"/>
            <a:ext cx="62146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心率、BLE/手机协同、长期低功耗优化等设想尚未在当前仓库中完整落地。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20040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4402" y="3351371"/>
            <a:ext cx="29644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识别类别与数据集仍需扩展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308" y="3634264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目前主要聚焦喇叭和警笛，后续还需引入更多真实道路场景与声音类别。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43243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4402" y="4475321"/>
            <a:ext cx="34015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3. 稳定性与用户研究仍需继续完善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308" y="4758214"/>
            <a:ext cx="6577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对话弱网表现、长时间运行边界，以及正式用户测试与可用性评价还不充分。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619750" y="1381125"/>
            <a:ext cx="61912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016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2247900"/>
            <a:ext cx="9525" cy="3009900"/>
          </a:xfrm>
          <a:custGeom>
            <a:avLst/>
            <a:gdLst/>
            <a:ahLst/>
            <a:cxnLst/>
            <a:rect l="l" t="t" r="r" b="b"/>
            <a:pathLst>
              <a:path w="9525" h="3009900">
                <a:moveTo>
                  <a:pt x="0" y="0"/>
                </a:moveTo>
                <a:lnTo>
                  <a:pt x="0" y="3009900"/>
                </a:lnTo>
              </a:path>
            </a:pathLst>
          </a:custGeom>
          <a:noFill/>
          <a:ln w="38100">
            <a:solidFill>
              <a:srgbClr val="5B8FD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534150" y="2305050"/>
            <a:ext cx="266700" cy="2667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534150" y="3619500"/>
            <a:ext cx="266700" cy="2667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34150" y="4933950"/>
            <a:ext cx="266700" cy="266700"/>
          </a:xfrm>
          <a:prstGeom prst="ellipse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048500" y="2057400"/>
            <a:ext cx="4286250" cy="78105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6152" y="2208371"/>
            <a:ext cx="28770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阶段一：补强感知与通信能力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8058" y="2491264"/>
            <a:ext cx="50508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扩展声音类别，继续引入传感器、BLE 和更多外围联动能力。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048500" y="3371850"/>
            <a:ext cx="428625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16152" y="352282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阶段二：补强稳定性与功耗验证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8058" y="3805714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优化网络异常恢复、长时间运行表现和低功耗策略，形成更稳定的样机。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048500" y="4686300"/>
            <a:ext cx="4286250" cy="78105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316152" y="4837271"/>
            <a:ext cx="33141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阶段三：补强用户研究与成果沉淀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18058" y="5120164"/>
            <a:ext cx="5618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组织真实用户测试，完善演示材料，并推进软著、专利等成果整理。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924550" y="5619750"/>
            <a:ext cx="5410200" cy="3238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498145" y="56997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当前项目已经具备继续深化和产品化验证的工程基础</a:t>
            </a:r>
          </a:p>
        </p:txBody>
      </p:sp>
      <p:sp>
        <p:nvSpPr>
          <p:cNvPr id="38" name="Line 3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69570" y="6522720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数据来源：项目结题报告中的问题与建议、项目上下文文档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