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png" ContentType="image/png"/>
  <Default Extension="jpg" ContentType="image/jpeg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notesSlides/_rels/notesSlide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.xml"/>
</Relationships>
</file>

<file path=ppt/notesSlides/_rels/notesSlide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.xml"/>
</Relationships>
</file>

<file path=ppt/notesSlides/_rels/notesSlide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.xml"/>
</Relationships>
</file>

<file path=ppt/notesSlides/_rels/notesSlide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4.xml"/>
</Relationships>
</file>

<file path=ppt/notesSlides/_rels/notesSlide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5.xml"/>
</Relationships>
</file>

<file path=ppt/notesSlides/_rels/notesSlide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6.xml"/>
</Relationships>
</file>

<file path=ppt/notesSlides/_rels/notesSlide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7.xml"/>
</Relationships>
</file>

<file path=ppt/notesSlides/_rels/notesSlide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8.xml"/>
</Relationships>
</file>

<file path=ppt/notesSlides/_rels/notesSlide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9.xml"/>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各位老师好，我汇报的项目是“基于AI大模型的声纹感知助残智能手表”，这是我们校级大学生创新创业训练计划项目的结题答辩。[停顿]</a:t>
            </a:r>
          </a:p>
          <a:p>
            <a:r>
              <a:rPr lang="zh-CN" dirty="0"/>
              <a:t>本项目围绕助残场景，重点完成了可穿戴交互底座、离线危险声音识别，以及联网 AI 对话扩展链路的阶段性验证。</a:t>
            </a:r>
          </a:p>
          <a:p>
            <a:endParaRPr lang="zh-CN" dirty="0"/>
          </a:p>
          <a:p>
            <a:r>
              <a:rPr lang="zh-CN" dirty="0"/>
              <a:t>要点：① 交代项目名称与答辩主题 ② 说明本次汇报聚焦阶段性成果 ③ 引出后续技术亮点</a:t>
            </a:r>
          </a:p>
          <a:p>
            <a:r>
              <a:rPr lang="zh-CN" dirty="0"/>
              <a:t>时长：0.4 分钟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首先说明我们为什么要做这个项目。</a:t>
            </a:r>
          </a:p>
          <a:p>
            <a:r>
              <a:rPr lang="zh-CN" dirty="0"/>
              <a:t>对于视障和听障群体来说，日常出行和交流中有大量关键环境信息是通过声音传递的，例如鸣笛、警笛和他人呼叫。[停顿]</a:t>
            </a:r>
          </a:p>
          <a:p>
            <a:r>
              <a:rPr lang="zh-CN" dirty="0"/>
              <a:t>因此，我们希望把这些高风险声音信息转化为腕上设备可及时理解的反馈，并进一步探索在嵌入式端稳定落地的可能性。</a:t>
            </a:r>
          </a:p>
          <a:p>
            <a:endParaRPr lang="zh-CN" dirty="0"/>
          </a:p>
          <a:p>
            <a:r>
              <a:rPr lang="zh-CN" dirty="0"/>
              <a:t>要点：① 助残场景需求明确 ② 危险声音感知具有现实价值 ③ 工程落地难度也是研究意义的一部分</a:t>
            </a:r>
          </a:p>
          <a:p>
            <a:r>
              <a:rPr lang="zh-CN" dirty="0"/>
              <a:t>时长：0.6 分钟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在明确需求以后，我们没有平均用力，而是做了阶段性的路线收敛。</a:t>
            </a:r>
          </a:p>
          <a:p>
            <a:r>
              <a:rPr lang="zh-CN" dirty="0"/>
              <a:t>立项目标原本比较完整，但在实际推进中，我们优先聚焦三个方面：嵌入式交互底座、离线危险识别，以及联网 AI 扩展。[停顿]</a:t>
            </a:r>
          </a:p>
          <a:p>
            <a:r>
              <a:rPr lang="zh-CN" dirty="0"/>
              <a:t>这样做的目的，是先形成一个真正可运行、可验证、可继续迭代的原型，而不是只停留在功能设想层面。</a:t>
            </a:r>
          </a:p>
          <a:p>
            <a:endParaRPr lang="zh-CN" dirty="0"/>
          </a:p>
          <a:p>
            <a:r>
              <a:rPr lang="zh-CN" dirty="0"/>
              <a:t>要点：① 说明立项目标与当前阶段的关系 ② 强调三条主线 ③ 说明“阶段性原型验证”的定位</a:t>
            </a:r>
          </a:p>
          <a:p>
            <a:r>
              <a:rPr lang="zh-CN" dirty="0"/>
              <a:t>时长：0.6 分钟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接下来介绍系统整体是怎样组织起来的。</a:t>
            </a:r>
          </a:p>
          <a:p>
            <a:r>
              <a:rPr lang="zh-CN" dirty="0"/>
              <a:t>当前系统已经形成显示触摸、联网服务、危险检测和 AI 对话四个关键模块，并由 ESP32-S3 作为主控统一调度。[停顿]</a:t>
            </a:r>
          </a:p>
          <a:p>
            <a:r>
              <a:rPr lang="zh-CN" dirty="0"/>
              <a:t>整体运行模式是前台界面优先可用，后台持续完成联网探测、危险识别和会话准备，这样更符合手表类设备的使用场景。</a:t>
            </a:r>
          </a:p>
          <a:p>
            <a:endParaRPr lang="zh-CN" dirty="0"/>
          </a:p>
          <a:p>
            <a:r>
              <a:rPr lang="zh-CN" dirty="0"/>
              <a:t>要点：① 明确四个关键模块 ② 说明模块间关系 ③ 强调前后台分工的工程价值</a:t>
            </a:r>
          </a:p>
          <a:p>
            <a:r>
              <a:rPr lang="zh-CN" dirty="0"/>
              <a:t>时长：0.7 分钟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这也是本次结题答辩最核心的一页。</a:t>
            </a:r>
          </a:p>
          <a:p>
            <a:r>
              <a:rPr lang="zh-CN" dirty="0"/>
              <a:t>我们的危险声音识别链路部署在端侧，本地完成音频采集、重采样、滑窗推理和后处理，不依赖云端实时返回。[停顿]</a:t>
            </a:r>
          </a:p>
          <a:p>
            <a:r>
              <a:rPr lang="zh-CN" dirty="0"/>
              <a:t>当前重点覆盖喇叭、警笛和背景音三类结果，并且已经在真机上实现识别后联动红屏与提示音，这说明它不只是模型演示，而是已经进入实际交互闭环。</a:t>
            </a:r>
          </a:p>
          <a:p>
            <a:endParaRPr lang="zh-CN" dirty="0"/>
          </a:p>
          <a:p>
            <a:r>
              <a:rPr lang="zh-CN" dirty="0"/>
              <a:t>要点：① 说明为什么必须做离线识别 ② 讲清楚处理流程 ③ 强调真机告警闭环已经跑通</a:t>
            </a:r>
          </a:p>
          <a:p>
            <a:r>
              <a:rPr lang="zh-CN" dirty="0"/>
              <a:t>时长：0.9 分钟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在核心识别能力之外，我们也重点处理了系统级联动问题。</a:t>
            </a:r>
          </a:p>
          <a:p>
            <a:r>
              <a:rPr lang="zh-CN" dirty="0"/>
              <a:t>从启动流程看，硬件初始化、LVGL 主任务、网络服务、危险检测服务和 AI 对话服务已经形成清晰分工。[停顿]</a:t>
            </a:r>
          </a:p>
          <a:p>
            <a:r>
              <a:rPr lang="zh-CN" dirty="0"/>
              <a:t>尤其是 UI 单线程刷新与后台任务并行运行的设计，帮助我们降低了线程竞争和界面异常风险，也让识别、联网和页面展示能够协同工作。</a:t>
            </a:r>
          </a:p>
          <a:p>
            <a:endParaRPr lang="zh-CN" dirty="0"/>
          </a:p>
          <a:p>
            <a:r>
              <a:rPr lang="zh-CN" dirty="0"/>
              <a:t>要点：① 说明系统不是单模块堆叠 ② 强调服务之间的职责划分 ③ 突出界面、识别和联网的联动闭环</a:t>
            </a:r>
          </a:p>
          <a:p>
            <a:r>
              <a:rPr lang="zh-CN" dirty="0"/>
              <a:t>时长：0.6 分钟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这一页主要展示当前原型的可视化表现。</a:t>
            </a:r>
          </a:p>
          <a:p>
            <a:r>
              <a:rPr lang="zh-CN" dirty="0"/>
              <a:t>目前答辩材料中已经整理出主界面截图和 AI 对话页面截图，可以看到页面入口、状态展示和消息区已经形成比较清晰的交互骨架。[停顿]</a:t>
            </a:r>
          </a:p>
          <a:p>
            <a:r>
              <a:rPr lang="zh-CN" dirty="0"/>
              <a:t>左侧预留了实物照片和结构视图位置，后续补入实拍素材后，可以更完整地支撑项目展示。</a:t>
            </a:r>
          </a:p>
          <a:p>
            <a:endParaRPr lang="zh-CN" dirty="0"/>
          </a:p>
          <a:p>
            <a:r>
              <a:rPr lang="zh-CN" dirty="0"/>
              <a:t>要点：① 展示当前已有页面证据 ② 说明原型具备实际界面形态 ③ 交代实物图后续可继续补强</a:t>
            </a:r>
          </a:p>
          <a:p>
            <a:r>
              <a:rPr lang="zh-CN" dirty="0"/>
              <a:t>时长：0.4 分钟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综合来看，本项目已经完成了较扎实的阶段性成果。</a:t>
            </a:r>
          </a:p>
          <a:p>
            <a:r>
              <a:rPr lang="zh-CN" dirty="0"/>
              <a:t>第一，我们完成了可运行手表原型和多页面交互底座；第二，完成了离线危险声音识别与提示闭环；第三，完成了联网 AI 对话扩展底座的接入。[停顿]</a:t>
            </a:r>
          </a:p>
          <a:p>
            <a:r>
              <a:rPr lang="zh-CN" dirty="0"/>
              <a:t>项目的创新点主要体现在端侧 AI、助残导向设计和模块化系统集成三者的结合，这也构成了项目的核心特色。</a:t>
            </a:r>
          </a:p>
          <a:p>
            <a:endParaRPr lang="zh-CN" dirty="0"/>
          </a:p>
          <a:p>
            <a:r>
              <a:rPr lang="zh-CN" dirty="0"/>
              <a:t>要点：① 概括三项阶段性成果 ② 提炼项目创新点 ③ 说明其对后续迭代的价值</a:t>
            </a:r>
          </a:p>
          <a:p>
            <a:r>
              <a:rPr lang="zh-CN" dirty="0"/>
              <a:t>时长：0.5 分钟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最后汇报目前仍存在的问题以及下一步方向。</a:t>
            </a:r>
          </a:p>
          <a:p>
            <a:r>
              <a:rPr lang="zh-CN" dirty="0"/>
              <a:t>和立项设想相比，心率、BLE 协同、更多识别类别、长期稳定性和正式用户研究还需要继续推进。[停顿]</a:t>
            </a:r>
          </a:p>
          <a:p>
            <a:r>
              <a:rPr lang="zh-CN" dirty="0"/>
              <a:t>但从当前结果看，项目已经建立起较完整的工程底座，后续只要沿着感知扩展、稳定性优化和用户验证三条线继续深化，就具备进一步产品化验证的基础。</a:t>
            </a:r>
          </a:p>
          <a:p>
            <a:endParaRPr lang="zh-CN" dirty="0"/>
          </a:p>
          <a:p>
            <a:r>
              <a:rPr lang="zh-CN" dirty="0"/>
              <a:t>要点：① 坦诚说明当前不足 ② 给出清晰的后续路线 ③ 以“具备继续深化基础”作为结尾</a:t>
            </a:r>
          </a:p>
          <a:p>
            <a:r>
              <a:rPr lang="zh-CN" dirty="0"/>
              <a:t>时长：0.3 分钟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10" Type="http://schemas.openxmlformats.org/officeDocument/2006/relationships/notesSlide" Target="../notesSlides/notesSlide1.xml"/>
</Relationships>
</file>

<file path=ppt/slides/_rels/slide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10" Type="http://schemas.openxmlformats.org/officeDocument/2006/relationships/notesSlide" Target="../notesSlides/notesSlide2.xml"/>
</Relationships>
</file>

<file path=ppt/slides/_rels/slide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10" Type="http://schemas.openxmlformats.org/officeDocument/2006/relationships/notesSlide" Target="../notesSlides/notesSlide3.xml"/>
</Relationships>
</file>

<file path=ppt/slides/_rels/slide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10" Type="http://schemas.openxmlformats.org/officeDocument/2006/relationships/notesSlide" Target="../notesSlides/notesSlide4.xml"/>
</Relationships>
</file>

<file path=ppt/slides/_rels/slide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10" Type="http://schemas.openxmlformats.org/officeDocument/2006/relationships/notesSlide" Target="../notesSlides/notesSlide5.xml"/>
</Relationships>
</file>

<file path=ppt/slides/_rels/slide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10" Type="http://schemas.openxmlformats.org/officeDocument/2006/relationships/notesSlide" Target="../notesSlides/notesSlide6.xml"/>
</Relationships>
</file>

<file path=ppt/slides/_rels/slide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s7_img1.png"/>
  <Relationship Id="rId3" Type="http://schemas.openxmlformats.org/officeDocument/2006/relationships/image" Target="../media/s7_img2.png"/>
  <Relationship Id="rId10" Type="http://schemas.openxmlformats.org/officeDocument/2006/relationships/notesSlide" Target="../notesSlides/notesSlide7.xml"/>
</Relationships>
</file>

<file path=ppt/slides/_rels/slide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10" Type="http://schemas.openxmlformats.org/officeDocument/2006/relationships/notesSlide" Target="../notesSlides/notesSlide8.xml"/>
</Relationships>
</file>

<file path=ppt/slides/_rels/slide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10" Type="http://schemas.openxmlformats.org/officeDocument/2006/relationships/notesSlide" Target="../notesSlides/notesSlide9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1028700"/>
          </a:xfrm>
          <a:prstGeom prst="rect">
            <a:avLst/>
          </a:prstGeom>
          <a:gradFill>
            <a:gsLst>
              <a:gs pos="0">
                <a:srgbClr val="1F4E79"/>
              </a:gs>
              <a:gs pos="100000">
                <a:srgbClr val="5B8FD9"/>
              </a:gs>
            </a:gsLst>
            <a:lin ang="0" scaled="1"/>
          </a:gra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95250" cy="1028700"/>
          </a:xfrm>
          <a:prstGeom prst="rect">
            <a:avLst/>
          </a:prstGeom>
          <a:solidFill>
            <a:srgbClr val="D97A32"/>
          </a:solidFill>
          <a:ln>
            <a:noFill/>
          </a:ln>
        </p:spPr>
      </p:sp>
      <p:sp>
        <p:nvSpPr>
          <p:cNvPr id="5" name="Rectangle 5"/>
          <p:cNvSpPr/>
          <p:nvPr/>
        </p:nvSpPr>
        <p:spPr>
          <a:xfrm>
            <a:off x="9715500" y="266700"/>
            <a:ext cx="1905000" cy="438150"/>
          </a:xfrm>
          <a:prstGeom prst="rect">
            <a:avLst/>
          </a:prstGeom>
          <a:solidFill>
            <a:srgbClr val="FFFFFF">
              <a:alpha val="12000"/>
            </a:srgbClr>
          </a:solidFill>
          <a:ln w="9525">
            <a:solidFill>
              <a:srgbClr val="FFFFFF">
                <a:alpha val="35000"/>
              </a:srgbClr>
            </a:solidFill>
          </a:ln>
        </p:spPr>
      </p:sp>
      <p:sp>
        <p:nvSpPr>
          <p:cNvPr id="6" name="TextBox 6"/>
          <p:cNvSpPr txBox="1"/>
          <p:nvPr/>
        </p:nvSpPr>
        <p:spPr>
          <a:xfrm>
            <a:off x="9559009" y="364808"/>
            <a:ext cx="2217982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SRP FINAL DEFENSE</a:t>
            </a:r>
          </a:p>
        </p:txBody>
      </p:sp>
      <p:sp>
        <p:nvSpPr>
          <p:cNvPr id="7" name="Rectangle 7"/>
          <p:cNvSpPr/>
          <p:nvPr/>
        </p:nvSpPr>
        <p:spPr>
          <a:xfrm>
            <a:off x="0" y="1028700"/>
            <a:ext cx="12192000" cy="5829300"/>
          </a:xfrm>
          <a:prstGeom prst="rect">
            <a:avLst/>
          </a:prstGeom>
          <a:gradFill>
            <a:gsLst>
              <a:gs pos="0">
                <a:srgbClr val="5B8FD9">
                  <a:alpha val="22000"/>
                </a:srgbClr>
              </a:gs>
              <a:gs pos="100000">
                <a:srgbClr val="5B8FD9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876300" y="1676400"/>
            <a:ext cx="1390650" cy="342900"/>
          </a:xfrm>
          <a:prstGeom prst="rect">
            <a:avLst/>
          </a:prstGeom>
          <a:solidFill>
            <a:srgbClr val="EAF1FB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968859" y="1767364"/>
            <a:ext cx="1205532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75" b="1" dirty="0">
                <a:solidFill>
                  <a:srgbClr val="1F4E79"/>
                </a:solidFill>
                <a:latin typeface="Arial"/>
                <a:ea typeface="Microsoft YaHei"/>
                <a:cs typeface="Arial"/>
              </a:rPr>
              <a:t>项目结题答辩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078754" y="2528888"/>
            <a:ext cx="4034492" cy="762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750" b="1" dirty="0">
                <a:solidFill>
                  <a:srgbClr val="1F4E79"/>
                </a:solidFill>
                <a:latin typeface="Arial"/>
                <a:ea typeface="Microsoft YaHei"/>
                <a:cs typeface="Arial"/>
              </a:rPr>
              <a:t>基于AI大模型的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173016" y="3157538"/>
            <a:ext cx="5845969" cy="762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750" b="1" dirty="0">
                <a:solidFill>
                  <a:srgbClr val="1F4E79"/>
                </a:solidFill>
                <a:latin typeface="Arial"/>
                <a:ea typeface="Microsoft YaHei"/>
                <a:cs typeface="Arial"/>
              </a:rPr>
              <a:t>声纹感知助残智能手表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720900" y="3781901"/>
            <a:ext cx="6750201" cy="4114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025" dirty="0">
                <a:solidFill>
                  <a:srgbClr val="5B6572"/>
                </a:solidFill>
                <a:latin typeface="Arial"/>
                <a:ea typeface="Microsoft YaHei"/>
                <a:cs typeface="Arial"/>
              </a:rPr>
              <a:t>校级大学生创新创业训练计划项目（SRP）结题答辩</a:t>
            </a:r>
          </a:p>
        </p:txBody>
      </p:sp>
      <p:sp>
        <p:nvSpPr>
          <p:cNvPr id="13" name="Line 13"/>
          <p:cNvSpPr/>
          <p:nvPr/>
        </p:nvSpPr>
        <p:spPr>
          <a:xfrm>
            <a:off x="3733800" y="4343400"/>
            <a:ext cx="4724400" cy="9525"/>
          </a:xfrm>
          <a:custGeom>
            <a:avLst/>
            <a:gdLst/>
            <a:ahLst/>
            <a:cxnLst/>
            <a:rect l="l" t="t" r="r" b="b"/>
            <a:pathLst>
              <a:path w="4724400" h="9525">
                <a:moveTo>
                  <a:pt x="0" y="0"/>
                </a:moveTo>
                <a:lnTo>
                  <a:pt x="4724400" y="0"/>
                </a:lnTo>
              </a:path>
            </a:pathLst>
          </a:custGeom>
          <a:noFill/>
          <a:ln w="19050">
            <a:solidFill>
              <a:srgbClr val="5B8FD9"/>
            </a:solidFill>
          </a:ln>
        </p:spPr>
      </p:sp>
      <p:sp>
        <p:nvSpPr>
          <p:cNvPr id="14" name="Ellipse 14"/>
          <p:cNvSpPr/>
          <p:nvPr/>
        </p:nvSpPr>
        <p:spPr>
          <a:xfrm>
            <a:off x="6038850" y="4286250"/>
            <a:ext cx="114300" cy="114300"/>
          </a:xfrm>
          <a:prstGeom prst="ellipse">
            <a:avLst/>
          </a:prstGeom>
          <a:solidFill>
            <a:srgbClr val="D97A32"/>
          </a:solidFill>
          <a:ln>
            <a:noFill/>
          </a:ln>
        </p:spPr>
      </p:sp>
      <p:sp>
        <p:nvSpPr>
          <p:cNvPr id="15" name="Rectangle 15"/>
          <p:cNvSpPr/>
          <p:nvPr/>
        </p:nvSpPr>
        <p:spPr>
          <a:xfrm>
            <a:off x="2571750" y="4762500"/>
            <a:ext cx="7048500" cy="1123950"/>
          </a:xfrm>
          <a:prstGeom prst="rect">
            <a:avLst/>
          </a:prstGeom>
          <a:solidFill>
            <a:srgbClr val="F7FAFE"/>
          </a:solidFill>
          <a:ln w="9525">
            <a:solidFill>
              <a:srgbClr val="C9D7E8"/>
            </a:solidFill>
          </a:ln>
        </p:spPr>
      </p:sp>
      <p:sp>
        <p:nvSpPr>
          <p:cNvPr id="16" name="TextBox 16"/>
          <p:cNvSpPr txBox="1"/>
          <p:nvPr/>
        </p:nvSpPr>
        <p:spPr>
          <a:xfrm>
            <a:off x="3181350" y="5000625"/>
            <a:ext cx="728186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233142"/>
                </a:solidFill>
                <a:latin typeface="Arial"/>
                <a:ea typeface="Microsoft YaHei"/>
                <a:cs typeface="Arial"/>
              </a:rPr>
              <a:t>答辩人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4229100" y="5000625"/>
            <a:ext cx="1856422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5B6572"/>
                </a:solidFill>
                <a:latin typeface="Arial"/>
                <a:ea typeface="Microsoft YaHei"/>
                <a:cs typeface="Arial"/>
              </a:rPr>
              <a:t>朱烨俊 等项目成员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419850" y="5000625"/>
            <a:ext cx="95821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233142"/>
                </a:solidFill>
                <a:latin typeface="Arial"/>
                <a:ea typeface="Microsoft YaHei"/>
                <a:cs typeface="Arial"/>
              </a:rPr>
              <a:t>指导教师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7658100" y="5000625"/>
            <a:ext cx="69532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5B6572"/>
                </a:solidFill>
                <a:latin typeface="Arial"/>
                <a:ea typeface="Microsoft YaHei"/>
                <a:cs typeface="Arial"/>
              </a:rPr>
              <a:t>陈玉霞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3181350" y="5419725"/>
            <a:ext cx="95821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233142"/>
                </a:solidFill>
                <a:latin typeface="Arial"/>
                <a:ea typeface="Microsoft YaHei"/>
                <a:cs typeface="Arial"/>
              </a:rPr>
              <a:t>学院专业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4229100" y="5419725"/>
            <a:ext cx="3576161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5B6572"/>
                </a:solidFill>
                <a:latin typeface="Arial"/>
                <a:ea typeface="Microsoft YaHei"/>
                <a:cs typeface="Arial"/>
              </a:rPr>
              <a:t>汽车与交通工程学院 · 智能车辆工程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8229600" y="5419725"/>
            <a:ext cx="498158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233142"/>
                </a:solidFill>
                <a:latin typeface="Arial"/>
                <a:ea typeface="Microsoft YaHei"/>
                <a:cs typeface="Arial"/>
              </a:rPr>
              <a:t>时间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8896350" y="5419725"/>
            <a:ext cx="1275874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5B6572"/>
                </a:solidFill>
                <a:latin typeface="Arial"/>
                <a:ea typeface="Microsoft YaHei"/>
                <a:cs typeface="Arial"/>
              </a:rPr>
              <a:t>2026 年 4 月</a:t>
            </a:r>
          </a:p>
        </p:txBody>
      </p:sp>
      <p:sp>
        <p:nvSpPr>
          <p:cNvPr id="24" name="Rectangle 24"/>
          <p:cNvSpPr/>
          <p:nvPr/>
        </p:nvSpPr>
        <p:spPr>
          <a:xfrm>
            <a:off x="0" y="6334125"/>
            <a:ext cx="12192000" cy="523875"/>
          </a:xfrm>
          <a:prstGeom prst="rect">
            <a:avLst/>
          </a:prstGeom>
          <a:solidFill>
            <a:srgbClr val="F5F7FA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3951065" y="6535102"/>
            <a:ext cx="428986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8D97A5"/>
                </a:solidFill>
                <a:latin typeface="Arial"/>
                <a:ea typeface="Microsoft YaHei"/>
                <a:cs typeface="Arial"/>
              </a:rPr>
              <a:t>广州城市理工学院 · 校级大学生创新创业训练计划项目（SRP）</a:t>
            </a:r>
          </a:p>
        </p:txBody>
      </p:sp>
    </p:spTree>
  </p:cSld>
  <p:clrMapOvr>
    <a:masterClrMapping/>
  </p:clrMapOvr>
  <p:transition 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1F4E79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D97A32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54330" y="211455"/>
            <a:ext cx="3322049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01 项目背景与研究意义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947148" y="292418"/>
            <a:ext cx="169049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广州城市理工学院</a:t>
            </a:r>
          </a:p>
        </p:txBody>
      </p:sp>
      <p:sp>
        <p:nvSpPr>
          <p:cNvPr id="7" name="Rectangle 7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AF1FB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5B8FD9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363855" y="825818"/>
            <a:ext cx="673798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233142"/>
                </a:solidFill>
                <a:latin typeface="Arial"/>
                <a:ea typeface="Microsoft YaHei"/>
                <a:cs typeface="Arial"/>
              </a:rPr>
              <a:t>助残设备的关键价值，在于把高风险环境信息转化为用户可及时理解的反馈。</a:t>
            </a:r>
          </a:p>
        </p:txBody>
      </p:sp>
      <p:sp>
        <p:nvSpPr>
          <p:cNvPr id="10" name="Rectangle 10"/>
          <p:cNvSpPr/>
          <p:nvPr/>
        </p:nvSpPr>
        <p:spPr>
          <a:xfrm>
            <a:off x="381000" y="1381125"/>
            <a:ext cx="5143500" cy="4714875"/>
          </a:xfrm>
          <a:prstGeom prst="rect">
            <a:avLst/>
          </a:prstGeom>
          <a:solidFill>
            <a:srgbClr val="F8FBFF"/>
          </a:solidFill>
          <a:ln w="9525">
            <a:solidFill>
              <a:srgbClr val="C9D7E8"/>
            </a:solidFill>
          </a:ln>
        </p:spPr>
      </p:sp>
      <p:sp>
        <p:nvSpPr>
          <p:cNvPr id="11" name="Rectangle 11"/>
          <p:cNvSpPr/>
          <p:nvPr/>
        </p:nvSpPr>
        <p:spPr>
          <a:xfrm>
            <a:off x="381000" y="1381125"/>
            <a:ext cx="114300" cy="4714875"/>
          </a:xfrm>
          <a:prstGeom prst="rect">
            <a:avLst/>
          </a:prstGeom>
          <a:solidFill>
            <a:srgbClr val="1F4E79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720090" y="1577340"/>
            <a:ext cx="1701927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4E79"/>
                </a:solidFill>
                <a:latin typeface="Arial"/>
                <a:ea typeface="Microsoft YaHei"/>
                <a:cs typeface="Arial"/>
              </a:rPr>
              <a:t>典型使用痛点</a:t>
            </a:r>
          </a:p>
        </p:txBody>
      </p:sp>
      <p:sp>
        <p:nvSpPr>
          <p:cNvPr id="13" name="Rectangle 13"/>
          <p:cNvSpPr/>
          <p:nvPr/>
        </p:nvSpPr>
        <p:spPr>
          <a:xfrm>
            <a:off x="742950" y="2038350"/>
            <a:ext cx="4419600" cy="1028700"/>
          </a:xfrm>
          <a:prstGeom prst="rect">
            <a:avLst/>
          </a:prstGeom>
          <a:solidFill>
            <a:srgbClr val="FFFFFF"/>
          </a:solidFill>
          <a:ln w="9525">
            <a:solidFill>
              <a:srgbClr val="D7E3F1"/>
            </a:solidFill>
          </a:ln>
        </p:spPr>
      </p:sp>
      <p:sp>
        <p:nvSpPr>
          <p:cNvPr id="14" name="Ellipse 14"/>
          <p:cNvSpPr/>
          <p:nvPr/>
        </p:nvSpPr>
        <p:spPr>
          <a:xfrm>
            <a:off x="914400" y="2247900"/>
            <a:ext cx="304800" cy="304800"/>
          </a:xfrm>
          <a:prstGeom prst="ellipse">
            <a:avLst/>
          </a:prstGeom>
          <a:solidFill>
            <a:srgbClr val="D97A32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1018601" y="2311718"/>
            <a:ext cx="9639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1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334452" y="2208371"/>
            <a:ext cx="3095577" cy="289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5" b="1" dirty="0">
                <a:solidFill>
                  <a:srgbClr val="233142"/>
                </a:solidFill>
                <a:latin typeface="Arial"/>
                <a:ea typeface="Microsoft YaHei"/>
                <a:cs typeface="Arial"/>
              </a:rPr>
              <a:t>视障用户难以及时感知危险声源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336358" y="2510314"/>
            <a:ext cx="3384232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5B6572"/>
                </a:solidFill>
                <a:latin typeface="Arial"/>
                <a:ea typeface="Microsoft YaHei"/>
                <a:cs typeface="Arial"/>
              </a:rPr>
              <a:t>鸣笛、警笛等声音与出行安全直接相关，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336358" y="2738914"/>
            <a:ext cx="3756660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5B6572"/>
                </a:solidFill>
                <a:latin typeface="Arial"/>
                <a:ea typeface="Microsoft YaHei"/>
                <a:cs typeface="Arial"/>
              </a:rPr>
              <a:t>但传统方案难以在贴身设备上完成实时提醒。</a:t>
            </a:r>
          </a:p>
        </p:txBody>
      </p:sp>
      <p:sp>
        <p:nvSpPr>
          <p:cNvPr id="19" name="Rectangle 19"/>
          <p:cNvSpPr/>
          <p:nvPr/>
        </p:nvSpPr>
        <p:spPr>
          <a:xfrm>
            <a:off x="742950" y="3219450"/>
            <a:ext cx="4419600" cy="1028700"/>
          </a:xfrm>
          <a:prstGeom prst="rect">
            <a:avLst/>
          </a:prstGeom>
          <a:solidFill>
            <a:srgbClr val="FFFFFF"/>
          </a:solidFill>
          <a:ln w="9525">
            <a:solidFill>
              <a:srgbClr val="D7E3F1"/>
            </a:solidFill>
          </a:ln>
        </p:spPr>
      </p:sp>
      <p:sp>
        <p:nvSpPr>
          <p:cNvPr id="20" name="Ellipse 20"/>
          <p:cNvSpPr/>
          <p:nvPr/>
        </p:nvSpPr>
        <p:spPr>
          <a:xfrm>
            <a:off x="914400" y="3429000"/>
            <a:ext cx="304800" cy="304800"/>
          </a:xfrm>
          <a:prstGeom prst="ellipse">
            <a:avLst/>
          </a:prstGeom>
          <a:solidFill>
            <a:srgbClr val="D97A32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992723" y="3492818"/>
            <a:ext cx="14815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2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334452" y="3389471"/>
            <a:ext cx="3532632" cy="289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5" b="1" dirty="0">
                <a:solidFill>
                  <a:srgbClr val="233142"/>
                </a:solidFill>
                <a:latin typeface="Arial"/>
                <a:ea typeface="Microsoft YaHei"/>
                <a:cs typeface="Arial"/>
              </a:rPr>
              <a:t>听障用户需要更直观的信息转化方式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336358" y="3691414"/>
            <a:ext cx="3756660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5B6572"/>
                </a:solidFill>
                <a:latin typeface="Arial"/>
                <a:ea typeface="Microsoft YaHei"/>
                <a:cs typeface="Arial"/>
              </a:rPr>
              <a:t>关键声音若能转化为视觉、状态或触觉提示，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336358" y="3920014"/>
            <a:ext cx="3011805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5B6572"/>
                </a:solidFill>
                <a:latin typeface="Arial"/>
                <a:ea typeface="Microsoft YaHei"/>
                <a:cs typeface="Arial"/>
              </a:rPr>
              <a:t>可以明显降低获取外界信息的门槛。</a:t>
            </a:r>
          </a:p>
        </p:txBody>
      </p:sp>
      <p:sp>
        <p:nvSpPr>
          <p:cNvPr id="25" name="Rectangle 25"/>
          <p:cNvSpPr/>
          <p:nvPr/>
        </p:nvSpPr>
        <p:spPr>
          <a:xfrm>
            <a:off x="742950" y="4400550"/>
            <a:ext cx="4419600" cy="1352550"/>
          </a:xfrm>
          <a:prstGeom prst="rect">
            <a:avLst/>
          </a:prstGeom>
          <a:solidFill>
            <a:srgbClr val="FFFFFF"/>
          </a:solidFill>
          <a:ln w="9525">
            <a:solidFill>
              <a:srgbClr val="D7E3F1"/>
            </a:solidFill>
          </a:ln>
        </p:spPr>
      </p:sp>
      <p:sp>
        <p:nvSpPr>
          <p:cNvPr id="26" name="Ellipse 26"/>
          <p:cNvSpPr/>
          <p:nvPr/>
        </p:nvSpPr>
        <p:spPr>
          <a:xfrm>
            <a:off x="914400" y="4610100"/>
            <a:ext cx="304800" cy="304800"/>
          </a:xfrm>
          <a:prstGeom prst="ellipse">
            <a:avLst/>
          </a:prstGeom>
          <a:solidFill>
            <a:srgbClr val="D97A32"/>
          </a:solidFill>
          <a:ln>
            <a:noFill/>
          </a:ln>
        </p:spPr>
      </p:sp>
      <p:sp>
        <p:nvSpPr>
          <p:cNvPr id="27" name="TextBox 27"/>
          <p:cNvSpPr txBox="1"/>
          <p:nvPr/>
        </p:nvSpPr>
        <p:spPr>
          <a:xfrm>
            <a:off x="992723" y="4673918"/>
            <a:ext cx="14815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3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334452" y="4570571"/>
            <a:ext cx="3532632" cy="289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5" b="1" dirty="0">
                <a:solidFill>
                  <a:srgbClr val="233142"/>
                </a:solidFill>
                <a:latin typeface="Arial"/>
                <a:ea typeface="Microsoft YaHei"/>
                <a:cs typeface="Arial"/>
              </a:rPr>
              <a:t>嵌入式可穿戴平台的实现门槛并不低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336358" y="4872514"/>
            <a:ext cx="4687729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5B6572"/>
                </a:solidFill>
                <a:latin typeface="Arial"/>
                <a:ea typeface="Microsoft YaHei"/>
                <a:cs typeface="Arial"/>
              </a:rPr>
              <a:t>智能手表同时受限于算力、内存、屏幕尺寸与交互方式，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336358" y="5101114"/>
            <a:ext cx="4724972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5B6572"/>
                </a:solidFill>
                <a:latin typeface="Arial"/>
                <a:ea typeface="Microsoft YaHei"/>
                <a:cs typeface="Arial"/>
              </a:rPr>
              <a:t>项目不仅要证明“能做”，还要证明“能在端侧稳定运行”。</a:t>
            </a:r>
          </a:p>
        </p:txBody>
      </p:sp>
      <p:sp>
        <p:nvSpPr>
          <p:cNvPr id="31" name="Rectangle 31"/>
          <p:cNvSpPr/>
          <p:nvPr/>
        </p:nvSpPr>
        <p:spPr>
          <a:xfrm>
            <a:off x="5772150" y="1381125"/>
            <a:ext cx="6038850" cy="4714875"/>
          </a:xfrm>
          <a:prstGeom prst="rect">
            <a:avLst/>
          </a:prstGeom>
          <a:solidFill>
            <a:srgbClr val="FFFFFF"/>
          </a:solidFill>
          <a:ln w="9525">
            <a:solidFill>
              <a:srgbClr val="C9D7E8"/>
            </a:solidFill>
          </a:ln>
        </p:spPr>
      </p:sp>
      <p:sp>
        <p:nvSpPr>
          <p:cNvPr id="32" name="TextBox 32"/>
          <p:cNvSpPr txBox="1"/>
          <p:nvPr/>
        </p:nvSpPr>
        <p:spPr>
          <a:xfrm>
            <a:off x="6092190" y="1577340"/>
            <a:ext cx="1149858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4E79"/>
                </a:solidFill>
                <a:latin typeface="Arial"/>
                <a:ea typeface="Microsoft YaHei"/>
                <a:cs typeface="Arial"/>
              </a:rPr>
              <a:t>研究意义</a:t>
            </a:r>
          </a:p>
        </p:txBody>
      </p:sp>
      <p:sp>
        <p:nvSpPr>
          <p:cNvPr id="33" name="Rectangle 33"/>
          <p:cNvSpPr/>
          <p:nvPr/>
        </p:nvSpPr>
        <p:spPr>
          <a:xfrm>
            <a:off x="6115050" y="2038350"/>
            <a:ext cx="5353050" cy="1104900"/>
          </a:xfrm>
          <a:prstGeom prst="rect">
            <a:avLst/>
          </a:prstGeom>
          <a:solidFill>
            <a:srgbClr val="EAF1FB"/>
          </a:solidFill>
          <a:ln>
            <a:noFill/>
          </a:ln>
        </p:spPr>
      </p:sp>
      <p:sp>
        <p:nvSpPr>
          <p:cNvPr id="34" name="TextBox 34"/>
          <p:cNvSpPr txBox="1"/>
          <p:nvPr/>
        </p:nvSpPr>
        <p:spPr>
          <a:xfrm>
            <a:off x="6381750" y="2200275"/>
            <a:ext cx="2832949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233142"/>
                </a:solidFill>
                <a:latin typeface="Arial"/>
                <a:ea typeface="Microsoft YaHei"/>
                <a:cs typeface="Arial"/>
              </a:rPr>
              <a:t>1. 面向助残场景的工程价值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6384608" y="2510314"/>
            <a:ext cx="4873942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5B6572"/>
                </a:solidFill>
                <a:latin typeface="Arial"/>
                <a:ea typeface="Microsoft YaHei"/>
                <a:cs typeface="Arial"/>
              </a:rPr>
              <a:t>把高风险声音识别、界面交互和联网能力结合到腕上设备，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6384608" y="2738914"/>
            <a:ext cx="3198019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5B6572"/>
                </a:solidFill>
                <a:latin typeface="Arial"/>
                <a:ea typeface="Microsoft YaHei"/>
                <a:cs typeface="Arial"/>
              </a:rPr>
              <a:t>探索更轻量、更贴身的辅助感知方案。</a:t>
            </a:r>
          </a:p>
        </p:txBody>
      </p:sp>
      <p:sp>
        <p:nvSpPr>
          <p:cNvPr id="37" name="Rectangle 37"/>
          <p:cNvSpPr/>
          <p:nvPr/>
        </p:nvSpPr>
        <p:spPr>
          <a:xfrm>
            <a:off x="6115050" y="3295650"/>
            <a:ext cx="5353050" cy="1104900"/>
          </a:xfrm>
          <a:prstGeom prst="rect">
            <a:avLst/>
          </a:prstGeom>
          <a:solidFill>
            <a:srgbClr val="F8FBFF"/>
          </a:solidFill>
          <a:ln w="9525">
            <a:solidFill>
              <a:srgbClr val="D7E3F1"/>
            </a:solidFill>
          </a:ln>
        </p:spPr>
      </p:sp>
      <p:sp>
        <p:nvSpPr>
          <p:cNvPr id="38" name="TextBox 38"/>
          <p:cNvSpPr txBox="1"/>
          <p:nvPr/>
        </p:nvSpPr>
        <p:spPr>
          <a:xfrm>
            <a:off x="6381750" y="3457575"/>
            <a:ext cx="3454027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233142"/>
                </a:solidFill>
                <a:latin typeface="Arial"/>
                <a:ea typeface="Microsoft YaHei"/>
                <a:cs typeface="Arial"/>
              </a:rPr>
              <a:t>2. 面向嵌入式端侧 AI 的实践价值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6384608" y="3767614"/>
            <a:ext cx="3942874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5B6572"/>
                </a:solidFill>
                <a:latin typeface="Arial"/>
                <a:ea typeface="Microsoft YaHei"/>
                <a:cs typeface="Arial"/>
              </a:rPr>
              <a:t>项目聚焦 ESP32-S3 上的离线识别、线程边界、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6384608" y="3996214"/>
            <a:ext cx="3840456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5B6572"/>
                </a:solidFill>
                <a:latin typeface="Arial"/>
                <a:ea typeface="Microsoft YaHei"/>
                <a:cs typeface="Arial"/>
              </a:rPr>
              <a:t>后台联网与 UI 协同，具有典型工程训练意义。</a:t>
            </a:r>
          </a:p>
        </p:txBody>
      </p:sp>
      <p:sp>
        <p:nvSpPr>
          <p:cNvPr id="41" name="Rectangle 41"/>
          <p:cNvSpPr/>
          <p:nvPr/>
        </p:nvSpPr>
        <p:spPr>
          <a:xfrm>
            <a:off x="6115050" y="4552950"/>
            <a:ext cx="5353050" cy="1200150"/>
          </a:xfrm>
          <a:prstGeom prst="rect">
            <a:avLst/>
          </a:prstGeom>
          <a:solidFill>
            <a:srgbClr val="1F4E79"/>
          </a:solidFill>
          <a:ln>
            <a:noFill/>
          </a:ln>
        </p:spPr>
      </p:sp>
      <p:sp>
        <p:nvSpPr>
          <p:cNvPr id="42" name="TextBox 42"/>
          <p:cNvSpPr txBox="1"/>
          <p:nvPr/>
        </p:nvSpPr>
        <p:spPr>
          <a:xfrm>
            <a:off x="6380798" y="4735354"/>
            <a:ext cx="1247656" cy="320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75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一句话概括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6383655" y="5073968"/>
            <a:ext cx="417480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本项目并非单点功能演示，而是围绕助残需求，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6383655" y="5302568"/>
            <a:ext cx="504234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完成“可穿戴交互 + 离线识别 + 联网扩展”的系统化验证。</a:t>
            </a:r>
          </a:p>
        </p:txBody>
      </p:sp>
      <p:sp>
        <p:nvSpPr>
          <p:cNvPr id="45" name="Line 45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AF1FB"/>
            </a:solidFill>
          </a:ln>
        </p:spPr>
      </p:sp>
      <p:sp>
        <p:nvSpPr>
          <p:cNvPr id="46" name="TextBox 46"/>
          <p:cNvSpPr txBox="1"/>
          <p:nvPr/>
        </p:nvSpPr>
        <p:spPr>
          <a:xfrm>
            <a:off x="369570" y="6522720"/>
            <a:ext cx="238229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D97A5"/>
                </a:solidFill>
                <a:latin typeface="Arial"/>
                <a:ea typeface="Microsoft YaHei"/>
                <a:cs typeface="Arial"/>
              </a:rPr>
              <a:t>数据来源：SRP 立项申请表、结题报告书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5821680" y="6522720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8D97A5"/>
                </a:solidFill>
                <a:latin typeface="Arial"/>
                <a:ea typeface="Microsoft YaHei"/>
                <a:cs typeface="Arial"/>
              </a:rPr>
              <a:t>研究背景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11438477" y="6506528"/>
            <a:ext cx="19535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5B6572"/>
                </a:solidFill>
                <a:latin typeface="Arial"/>
                <a:ea typeface="Microsoft YaHei"/>
                <a:cs typeface="Arial"/>
              </a:rPr>
              <a:t>02</a:t>
            </a:r>
          </a:p>
        </p:txBody>
      </p:sp>
    </p:spTree>
  </p:cSld>
  <p:clrMapOvr>
    <a:masterClrMapping/>
  </p:clrMapOvr>
  <p:transition 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1F4E79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D97A32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54330" y="211455"/>
            <a:ext cx="3402559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02 项目目标与总体方案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947148" y="292418"/>
            <a:ext cx="169049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广州城市理工学院</a:t>
            </a:r>
          </a:p>
        </p:txBody>
      </p:sp>
      <p:sp>
        <p:nvSpPr>
          <p:cNvPr id="7" name="Rectangle 7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AF1FB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5B8FD9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363855" y="825818"/>
            <a:ext cx="675770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233142"/>
                </a:solidFill>
                <a:latin typeface="Arial"/>
                <a:ea typeface="Microsoft YaHei"/>
                <a:cs typeface="Arial"/>
              </a:rPr>
              <a:t>结题阶段的核心不是“把所有设想一次做完”，而是先打通最关键的技术闭环。</a:t>
            </a:r>
          </a:p>
        </p:txBody>
      </p:sp>
      <p:sp>
        <p:nvSpPr>
          <p:cNvPr id="10" name="Rectangle 10"/>
          <p:cNvSpPr/>
          <p:nvPr/>
        </p:nvSpPr>
        <p:spPr>
          <a:xfrm>
            <a:off x="381000" y="1381125"/>
            <a:ext cx="5524500" cy="1695450"/>
          </a:xfrm>
          <a:prstGeom prst="rect">
            <a:avLst/>
          </a:prstGeom>
          <a:solidFill>
            <a:srgbClr val="F8FBFF"/>
          </a:solidFill>
          <a:ln w="9525">
            <a:solidFill>
              <a:srgbClr val="C9D7E8"/>
            </a:solidFill>
          </a:ln>
        </p:spPr>
      </p:sp>
      <p:sp>
        <p:nvSpPr>
          <p:cNvPr id="11" name="TextBox 11"/>
          <p:cNvSpPr txBox="1"/>
          <p:nvPr/>
        </p:nvSpPr>
        <p:spPr>
          <a:xfrm>
            <a:off x="662940" y="1577340"/>
            <a:ext cx="1149858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4E79"/>
                </a:solidFill>
                <a:latin typeface="Arial"/>
                <a:ea typeface="Microsoft YaHei"/>
                <a:cs typeface="Arial"/>
              </a:rPr>
              <a:t>立项目标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68655" y="1987868"/>
            <a:ext cx="473673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233142"/>
                </a:solidFill>
                <a:latin typeface="Arial"/>
                <a:ea typeface="Microsoft YaHei"/>
                <a:cs typeface="Arial"/>
              </a:rPr>
              <a:t>• 面向智能手表形态，探索时间显示、环境声音识别、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68655" y="2245042"/>
            <a:ext cx="437197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233142"/>
                </a:solidFill>
                <a:latin typeface="Arial"/>
                <a:ea typeface="Microsoft YaHei"/>
                <a:cs typeface="Arial"/>
              </a:rPr>
              <a:t>人机交互、联网服务和后续手机协同的综合方案。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68655" y="2502218"/>
            <a:ext cx="493390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233142"/>
                </a:solidFill>
                <a:latin typeface="Arial"/>
                <a:ea typeface="Microsoft YaHei"/>
                <a:cs typeface="Arial"/>
              </a:rPr>
              <a:t>• 形成兼具助残应用价值和嵌入式工程训练意义的样机。</a:t>
            </a:r>
          </a:p>
        </p:txBody>
      </p:sp>
      <p:sp>
        <p:nvSpPr>
          <p:cNvPr id="15" name="Rectangle 15"/>
          <p:cNvSpPr/>
          <p:nvPr/>
        </p:nvSpPr>
        <p:spPr>
          <a:xfrm>
            <a:off x="6286500" y="1381125"/>
            <a:ext cx="5524500" cy="1695450"/>
          </a:xfrm>
          <a:prstGeom prst="rect">
            <a:avLst/>
          </a:prstGeom>
          <a:solidFill>
            <a:srgbClr val="1F4E79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6568440" y="1577340"/>
            <a:ext cx="1425892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阶段性取舍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574155" y="1987868"/>
            <a:ext cx="561413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• 优先完成嵌入式交互底座、危险声音离线识别、联网 AI 扩展。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574155" y="2245042"/>
            <a:ext cx="517050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• 心率、BLE/手机联动、长期低功耗优化保留到下一阶段。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574155" y="2502218"/>
            <a:ext cx="560427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• 当前成果定位为“原型样机 + 核心能力验证 + 技术底座建设”。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358140" y="3348990"/>
            <a:ext cx="2253996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4E79"/>
                </a:solidFill>
                <a:latin typeface="Arial"/>
                <a:ea typeface="Microsoft YaHei"/>
                <a:cs typeface="Arial"/>
              </a:rPr>
              <a:t>总体方案三条主线</a:t>
            </a:r>
          </a:p>
        </p:txBody>
      </p:sp>
      <p:sp>
        <p:nvSpPr>
          <p:cNvPr id="21" name="Rectangle 21"/>
          <p:cNvSpPr/>
          <p:nvPr/>
        </p:nvSpPr>
        <p:spPr>
          <a:xfrm>
            <a:off x="381000" y="3771900"/>
            <a:ext cx="3600450" cy="21336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7E8"/>
            </a:solidFill>
          </a:ln>
        </p:spPr>
      </p:sp>
      <p:sp>
        <p:nvSpPr>
          <p:cNvPr id="22" name="Rectangle 22"/>
          <p:cNvSpPr/>
          <p:nvPr/>
        </p:nvSpPr>
        <p:spPr>
          <a:xfrm>
            <a:off x="381000" y="3771900"/>
            <a:ext cx="3600450" cy="114300"/>
          </a:xfrm>
          <a:prstGeom prst="rect">
            <a:avLst/>
          </a:prstGeom>
          <a:solidFill>
            <a:srgbClr val="1F4E79"/>
          </a:soli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664845" y="4050982"/>
            <a:ext cx="1813131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233142"/>
                </a:solidFill>
                <a:latin typeface="Arial"/>
                <a:ea typeface="Microsoft YaHei"/>
                <a:cs typeface="Arial"/>
              </a:rPr>
              <a:t>嵌入式交互底座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669608" y="4415314"/>
            <a:ext cx="3495961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5B6572"/>
                </a:solidFill>
                <a:latin typeface="Arial"/>
                <a:ea typeface="Microsoft YaHei"/>
                <a:cs typeface="Arial"/>
              </a:rPr>
              <a:t>• 基于 ESP32-S3 + ESP-IDF 搭建主控系统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669608" y="4643914"/>
            <a:ext cx="3076980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5B6572"/>
                </a:solidFill>
                <a:latin typeface="Arial"/>
                <a:ea typeface="Microsoft YaHei"/>
                <a:cs typeface="Arial"/>
              </a:rPr>
              <a:t>• LVGL 完成显示、触摸和多页面交互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669608" y="4872514"/>
            <a:ext cx="2881455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5B6572"/>
                </a:solidFill>
                <a:latin typeface="Arial"/>
                <a:ea typeface="Microsoft YaHei"/>
                <a:cs typeface="Arial"/>
              </a:rPr>
              <a:t>• 提供可持续扩展的 UI 与任务骨架</a:t>
            </a:r>
          </a:p>
        </p:txBody>
      </p:sp>
      <p:sp>
        <p:nvSpPr>
          <p:cNvPr id="27" name="Rectangle 27"/>
          <p:cNvSpPr/>
          <p:nvPr/>
        </p:nvSpPr>
        <p:spPr>
          <a:xfrm>
            <a:off x="685800" y="5372100"/>
            <a:ext cx="1238250" cy="285750"/>
          </a:xfrm>
          <a:prstGeom prst="rect">
            <a:avLst/>
          </a:prstGeom>
          <a:solidFill>
            <a:srgbClr val="EAF1FB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686812" y="5441156"/>
            <a:ext cx="123622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1F4E79"/>
                </a:solidFill>
                <a:latin typeface="Arial"/>
                <a:ea typeface="Microsoft YaHei"/>
                <a:cs typeface="Arial"/>
              </a:rPr>
              <a:t>系统可用性基础</a:t>
            </a:r>
          </a:p>
        </p:txBody>
      </p:sp>
      <p:sp>
        <p:nvSpPr>
          <p:cNvPr id="29" name="Rectangle 29"/>
          <p:cNvSpPr/>
          <p:nvPr/>
        </p:nvSpPr>
        <p:spPr>
          <a:xfrm>
            <a:off x="4295775" y="3771900"/>
            <a:ext cx="3600450" cy="21336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7E8"/>
            </a:solidFill>
          </a:ln>
        </p:spPr>
      </p:sp>
      <p:sp>
        <p:nvSpPr>
          <p:cNvPr id="30" name="Rectangle 30"/>
          <p:cNvSpPr/>
          <p:nvPr/>
        </p:nvSpPr>
        <p:spPr>
          <a:xfrm>
            <a:off x="4295775" y="3771900"/>
            <a:ext cx="3600450" cy="114300"/>
          </a:xfrm>
          <a:prstGeom prst="rect">
            <a:avLst/>
          </a:prstGeom>
          <a:solidFill>
            <a:srgbClr val="D97A32"/>
          </a:solidFill>
          <a:ln>
            <a:noFill/>
          </a:ln>
        </p:spPr>
      </p:sp>
      <p:sp>
        <p:nvSpPr>
          <p:cNvPr id="31" name="TextBox 31"/>
          <p:cNvSpPr txBox="1"/>
          <p:nvPr/>
        </p:nvSpPr>
        <p:spPr>
          <a:xfrm>
            <a:off x="4579620" y="4050982"/>
            <a:ext cx="1560100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233142"/>
                </a:solidFill>
                <a:latin typeface="Arial"/>
                <a:ea typeface="Microsoft YaHei"/>
                <a:cs typeface="Arial"/>
              </a:rPr>
              <a:t>离线危险识别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4584382" y="4415314"/>
            <a:ext cx="2425232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5B6572"/>
                </a:solidFill>
                <a:latin typeface="Arial"/>
                <a:ea typeface="Microsoft YaHei"/>
                <a:cs typeface="Arial"/>
              </a:rPr>
              <a:t>• 端侧部署危险声音分类模型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4584382" y="4643914"/>
            <a:ext cx="3542514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5B6572"/>
                </a:solidFill>
                <a:latin typeface="Arial"/>
                <a:ea typeface="Microsoft YaHei"/>
                <a:cs typeface="Arial"/>
              </a:rPr>
              <a:t>• 打通采集、推理、后处理、告警输出链路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4584382" y="4872514"/>
            <a:ext cx="2983873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5B6572"/>
                </a:solidFill>
                <a:latin typeface="Arial"/>
                <a:ea typeface="Microsoft YaHei"/>
                <a:cs typeface="Arial"/>
              </a:rPr>
              <a:t>• 优先聚焦喇叭、警笛等高价值场景</a:t>
            </a:r>
          </a:p>
        </p:txBody>
      </p:sp>
      <p:sp>
        <p:nvSpPr>
          <p:cNvPr id="35" name="Rectangle 35"/>
          <p:cNvSpPr/>
          <p:nvPr/>
        </p:nvSpPr>
        <p:spPr>
          <a:xfrm>
            <a:off x="4600575" y="5372100"/>
            <a:ext cx="1238250" cy="285750"/>
          </a:xfrm>
          <a:prstGeom prst="rect">
            <a:avLst/>
          </a:prstGeom>
          <a:solidFill>
            <a:srgbClr val="FDEEDD"/>
          </a:solidFill>
          <a:ln>
            <a:noFill/>
          </a:ln>
        </p:spPr>
      </p:sp>
      <p:sp>
        <p:nvSpPr>
          <p:cNvPr id="36" name="TextBox 36"/>
          <p:cNvSpPr txBox="1"/>
          <p:nvPr/>
        </p:nvSpPr>
        <p:spPr>
          <a:xfrm>
            <a:off x="4687848" y="5441156"/>
            <a:ext cx="106370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C44F2A"/>
                </a:solidFill>
                <a:latin typeface="Arial"/>
                <a:ea typeface="Microsoft YaHei"/>
                <a:cs typeface="Arial"/>
              </a:rPr>
              <a:t>核心亮点模块</a:t>
            </a:r>
          </a:p>
        </p:txBody>
      </p:sp>
      <p:sp>
        <p:nvSpPr>
          <p:cNvPr id="37" name="Rectangle 37"/>
          <p:cNvSpPr/>
          <p:nvPr/>
        </p:nvSpPr>
        <p:spPr>
          <a:xfrm>
            <a:off x="8210550" y="3771900"/>
            <a:ext cx="3600450" cy="21336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7E8"/>
            </a:solidFill>
          </a:ln>
        </p:spPr>
      </p:sp>
      <p:sp>
        <p:nvSpPr>
          <p:cNvPr id="38" name="Rectangle 38"/>
          <p:cNvSpPr/>
          <p:nvPr/>
        </p:nvSpPr>
        <p:spPr>
          <a:xfrm>
            <a:off x="8210550" y="3771900"/>
            <a:ext cx="3600450" cy="114300"/>
          </a:xfrm>
          <a:prstGeom prst="rect">
            <a:avLst/>
          </a:prstGeom>
          <a:solidFill>
            <a:srgbClr val="5B8FD9"/>
          </a:solidFill>
          <a:ln>
            <a:noFill/>
          </a:ln>
        </p:spPr>
      </p:sp>
      <p:sp>
        <p:nvSpPr>
          <p:cNvPr id="39" name="TextBox 39"/>
          <p:cNvSpPr txBox="1"/>
          <p:nvPr/>
        </p:nvSpPr>
        <p:spPr>
          <a:xfrm>
            <a:off x="8494395" y="4050982"/>
            <a:ext cx="1420932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233142"/>
                </a:solidFill>
                <a:latin typeface="Arial"/>
                <a:ea typeface="Microsoft YaHei"/>
                <a:cs typeface="Arial"/>
              </a:rPr>
              <a:t>联网 AI 扩展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8499158" y="4415314"/>
            <a:ext cx="2983873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5B6572"/>
                </a:solidFill>
                <a:latin typeface="Arial"/>
                <a:ea typeface="Microsoft YaHei"/>
                <a:cs typeface="Arial"/>
              </a:rPr>
              <a:t>• 复用配网链路与后台网络状态管理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8499158" y="4643914"/>
            <a:ext cx="2983873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5B6572"/>
                </a:solidFill>
                <a:latin typeface="Arial"/>
                <a:ea typeface="Microsoft YaHei"/>
                <a:cs typeface="Arial"/>
              </a:rPr>
              <a:t>• 接入 official_chat 对话能力底座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8499158" y="4872514"/>
            <a:ext cx="3170087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5B6572"/>
                </a:solidFill>
                <a:latin typeface="Arial"/>
                <a:ea typeface="Microsoft YaHei"/>
                <a:cs typeface="Arial"/>
              </a:rPr>
              <a:t>• 为后续助残交互与服务扩展预留空间</a:t>
            </a:r>
          </a:p>
        </p:txBody>
      </p:sp>
      <p:sp>
        <p:nvSpPr>
          <p:cNvPr id="43" name="Rectangle 43"/>
          <p:cNvSpPr/>
          <p:nvPr/>
        </p:nvSpPr>
        <p:spPr>
          <a:xfrm>
            <a:off x="8515350" y="5372100"/>
            <a:ext cx="1238250" cy="285750"/>
          </a:xfrm>
          <a:prstGeom prst="rect">
            <a:avLst/>
          </a:prstGeom>
          <a:solidFill>
            <a:srgbClr val="EAF1FB"/>
          </a:solidFill>
          <a:ln>
            <a:noFill/>
          </a:ln>
        </p:spPr>
      </p:sp>
      <p:sp>
        <p:nvSpPr>
          <p:cNvPr id="44" name="TextBox 44"/>
          <p:cNvSpPr txBox="1"/>
          <p:nvPr/>
        </p:nvSpPr>
        <p:spPr>
          <a:xfrm>
            <a:off x="8602623" y="5441156"/>
            <a:ext cx="106370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1F4E79"/>
                </a:solidFill>
                <a:latin typeface="Arial"/>
                <a:ea typeface="Microsoft YaHei"/>
                <a:cs typeface="Arial"/>
              </a:rPr>
              <a:t>后续扩展入口</a:t>
            </a:r>
          </a:p>
        </p:txBody>
      </p:sp>
      <p:sp>
        <p:nvSpPr>
          <p:cNvPr id="45" name="Line 45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AF1FB"/>
            </a:solidFill>
          </a:ln>
        </p:spPr>
      </p:sp>
      <p:sp>
        <p:nvSpPr>
          <p:cNvPr id="46" name="TextBox 46"/>
          <p:cNvSpPr txBox="1"/>
          <p:nvPr/>
        </p:nvSpPr>
        <p:spPr>
          <a:xfrm>
            <a:off x="369570" y="6522720"/>
            <a:ext cx="251374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D97A5"/>
                </a:solidFill>
                <a:latin typeface="Arial"/>
                <a:ea typeface="Microsoft YaHei"/>
                <a:cs typeface="Arial"/>
              </a:rPr>
              <a:t>数据来源：SRP 立项申请表、项目结题报告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5821680" y="6522720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8D97A5"/>
                </a:solidFill>
                <a:latin typeface="Arial"/>
                <a:ea typeface="Microsoft YaHei"/>
                <a:cs typeface="Arial"/>
              </a:rPr>
              <a:t>总体方案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11438477" y="6506528"/>
            <a:ext cx="19535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5B6572"/>
                </a:solidFill>
                <a:latin typeface="Arial"/>
                <a:ea typeface="Microsoft YaHei"/>
                <a:cs typeface="Arial"/>
              </a:rPr>
              <a:t>03</a:t>
            </a:r>
          </a:p>
        </p:txBody>
      </p:sp>
    </p:spTree>
  </p:cSld>
  <p:clrMapOvr>
    <a:masterClrMapping/>
  </p:clrMapOvr>
  <p:transition 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1F4E79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D97A32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54330" y="211455"/>
            <a:ext cx="3402559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03 系统架构与关键模块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947148" y="292418"/>
            <a:ext cx="169049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广州城市理工学院</a:t>
            </a:r>
          </a:p>
        </p:txBody>
      </p:sp>
      <p:sp>
        <p:nvSpPr>
          <p:cNvPr id="7" name="Rectangle 7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AF1FB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5B8FD9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363855" y="825818"/>
            <a:ext cx="792099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233142"/>
                </a:solidFill>
                <a:latin typeface="Arial"/>
                <a:ea typeface="Microsoft YaHei"/>
                <a:cs typeface="Arial"/>
              </a:rPr>
              <a:t>系统采用前后台分工方式运行：前台负责交互可用，后台持续完成联网、识别与服务调度。</a:t>
            </a:r>
          </a:p>
        </p:txBody>
      </p:sp>
      <p:sp>
        <p:nvSpPr>
          <p:cNvPr id="10" name="Rectangle 10"/>
          <p:cNvSpPr/>
          <p:nvPr/>
        </p:nvSpPr>
        <p:spPr>
          <a:xfrm>
            <a:off x="381000" y="1381125"/>
            <a:ext cx="5810250" cy="4714875"/>
          </a:xfrm>
          <a:prstGeom prst="rect">
            <a:avLst/>
          </a:prstGeom>
          <a:solidFill>
            <a:srgbClr val="F8FBFF"/>
          </a:solidFill>
          <a:ln w="9525">
            <a:solidFill>
              <a:srgbClr val="C9D7E8"/>
            </a:solidFill>
          </a:ln>
        </p:spPr>
      </p:sp>
      <p:sp>
        <p:nvSpPr>
          <p:cNvPr id="11" name="TextBox 11"/>
          <p:cNvSpPr txBox="1"/>
          <p:nvPr/>
        </p:nvSpPr>
        <p:spPr>
          <a:xfrm>
            <a:off x="662940" y="1577340"/>
            <a:ext cx="2253996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4E79"/>
                </a:solidFill>
                <a:latin typeface="Arial"/>
                <a:ea typeface="Microsoft YaHei"/>
                <a:cs typeface="Arial"/>
              </a:rPr>
              <a:t>系统架构模块框图</a:t>
            </a:r>
          </a:p>
        </p:txBody>
      </p:sp>
      <p:sp>
        <p:nvSpPr>
          <p:cNvPr id="12" name="Rectangle 12"/>
          <p:cNvSpPr/>
          <p:nvPr/>
        </p:nvSpPr>
        <p:spPr>
          <a:xfrm>
            <a:off x="2400300" y="2952750"/>
            <a:ext cx="1866900" cy="1104900"/>
          </a:xfrm>
          <a:prstGeom prst="rect">
            <a:avLst/>
          </a:prstGeom>
          <a:solidFill>
            <a:srgbClr val="1F4E79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2729870" y="3195161"/>
            <a:ext cx="1207760" cy="350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725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ESP32-S3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479596" y="3539014"/>
            <a:ext cx="1708309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75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主控与任务调度中心</a:t>
            </a:r>
          </a:p>
        </p:txBody>
      </p:sp>
      <p:sp>
        <p:nvSpPr>
          <p:cNvPr id="15" name="Rectangle 15"/>
          <p:cNvSpPr/>
          <p:nvPr/>
        </p:nvSpPr>
        <p:spPr>
          <a:xfrm>
            <a:off x="819150" y="1790700"/>
            <a:ext cx="1733550" cy="857250"/>
          </a:xfrm>
          <a:prstGeom prst="rect">
            <a:avLst/>
          </a:prstGeom>
          <a:solidFill>
            <a:srgbClr val="FFFFFF"/>
          </a:solidFill>
          <a:ln w="19050">
            <a:solidFill>
              <a:srgbClr val="5B8FD9"/>
            </a:solidFill>
          </a:ln>
        </p:spPr>
      </p:sp>
      <p:sp>
        <p:nvSpPr>
          <p:cNvPr id="16" name="TextBox 16"/>
          <p:cNvSpPr txBox="1"/>
          <p:nvPr/>
        </p:nvSpPr>
        <p:spPr>
          <a:xfrm>
            <a:off x="1074551" y="1981200"/>
            <a:ext cx="1222748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233142"/>
                </a:solidFill>
                <a:latin typeface="Arial"/>
                <a:ea typeface="Microsoft YaHei"/>
                <a:cs typeface="Arial"/>
              </a:rPr>
              <a:t>显示 / 触摸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80466" y="2280285"/>
            <a:ext cx="201091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B6572"/>
                </a:solidFill>
                <a:latin typeface="Arial"/>
                <a:ea typeface="Microsoft YaHei"/>
                <a:cs typeface="Arial"/>
              </a:rPr>
              <a:t>LVGL + CO5300 + FT5x06</a:t>
            </a:r>
          </a:p>
        </p:txBody>
      </p:sp>
      <p:sp>
        <p:nvSpPr>
          <p:cNvPr id="18" name="Rectangle 18"/>
          <p:cNvSpPr/>
          <p:nvPr/>
        </p:nvSpPr>
        <p:spPr>
          <a:xfrm>
            <a:off x="4114800" y="1790700"/>
            <a:ext cx="1733550" cy="857250"/>
          </a:xfrm>
          <a:prstGeom prst="rect">
            <a:avLst/>
          </a:prstGeom>
          <a:solidFill>
            <a:srgbClr val="FFFFFF"/>
          </a:solidFill>
          <a:ln w="19050">
            <a:solidFill>
              <a:srgbClr val="5B8FD9"/>
            </a:solidFill>
          </a:ln>
        </p:spPr>
      </p:sp>
      <p:sp>
        <p:nvSpPr>
          <p:cNvPr id="19" name="TextBox 19"/>
          <p:cNvSpPr txBox="1"/>
          <p:nvPr/>
        </p:nvSpPr>
        <p:spPr>
          <a:xfrm>
            <a:off x="4502468" y="1981200"/>
            <a:ext cx="95821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233142"/>
                </a:solidFill>
                <a:latin typeface="Arial"/>
                <a:ea typeface="Microsoft YaHei"/>
                <a:cs typeface="Arial"/>
              </a:rPr>
              <a:t>联网服务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3923538" y="2280285"/>
            <a:ext cx="211607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B6572"/>
                </a:solidFill>
                <a:latin typeface="Arial"/>
                <a:ea typeface="Microsoft YaHei"/>
                <a:cs typeface="Arial"/>
              </a:rPr>
              <a:t>Wi-Fi 配网 + 服务就绪探测</a:t>
            </a:r>
          </a:p>
        </p:txBody>
      </p:sp>
      <p:sp>
        <p:nvSpPr>
          <p:cNvPr id="21" name="Rectangle 21"/>
          <p:cNvSpPr/>
          <p:nvPr/>
        </p:nvSpPr>
        <p:spPr>
          <a:xfrm>
            <a:off x="819150" y="4362450"/>
            <a:ext cx="1733550" cy="857250"/>
          </a:xfrm>
          <a:prstGeom prst="rect">
            <a:avLst/>
          </a:prstGeom>
          <a:solidFill>
            <a:srgbClr val="FFFFFF"/>
          </a:solidFill>
          <a:ln w="19050">
            <a:solidFill>
              <a:srgbClr val="D97A32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1206818" y="4552950"/>
            <a:ext cx="95821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233142"/>
                </a:solidFill>
                <a:latin typeface="Arial"/>
                <a:ea typeface="Microsoft YaHei"/>
                <a:cs typeface="Arial"/>
              </a:rPr>
              <a:t>危险检测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575310" y="4852035"/>
            <a:ext cx="222123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B6572"/>
                </a:solidFill>
                <a:latin typeface="Arial"/>
                <a:ea typeface="Microsoft YaHei"/>
                <a:cs typeface="Arial"/>
              </a:rPr>
              <a:t>traffic_inference + alert</a:t>
            </a:r>
          </a:p>
        </p:txBody>
      </p:sp>
      <p:sp>
        <p:nvSpPr>
          <p:cNvPr id="24" name="Rectangle 24"/>
          <p:cNvSpPr/>
          <p:nvPr/>
        </p:nvSpPr>
        <p:spPr>
          <a:xfrm>
            <a:off x="4114800" y="4362450"/>
            <a:ext cx="1733550" cy="857250"/>
          </a:xfrm>
          <a:prstGeom prst="rect">
            <a:avLst/>
          </a:prstGeom>
          <a:solidFill>
            <a:srgbClr val="FFFFFF"/>
          </a:solidFill>
          <a:ln w="19050">
            <a:solidFill>
              <a:srgbClr val="D97A32"/>
            </a:solidFill>
          </a:ln>
        </p:spPr>
      </p:sp>
      <p:sp>
        <p:nvSpPr>
          <p:cNvPr id="25" name="TextBox 25"/>
          <p:cNvSpPr txBox="1"/>
          <p:nvPr/>
        </p:nvSpPr>
        <p:spPr>
          <a:xfrm>
            <a:off x="4600230" y="4552950"/>
            <a:ext cx="762691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233142"/>
                </a:solidFill>
                <a:latin typeface="Arial"/>
                <a:ea typeface="Microsoft YaHei"/>
                <a:cs typeface="Arial"/>
              </a:rPr>
              <a:t>AI 对话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4041838" y="4852035"/>
            <a:ext cx="187947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B6572"/>
                </a:solidFill>
                <a:latin typeface="Arial"/>
                <a:ea typeface="Microsoft YaHei"/>
                <a:cs typeface="Arial"/>
              </a:rPr>
              <a:t>official_chat_service</a:t>
            </a:r>
          </a:p>
        </p:txBody>
      </p:sp>
      <p:sp>
        <p:nvSpPr>
          <p:cNvPr id="27" name="Line 27"/>
          <p:cNvSpPr/>
          <p:nvPr/>
        </p:nvSpPr>
        <p:spPr>
          <a:xfrm>
            <a:off x="2552700" y="2647950"/>
            <a:ext cx="457200" cy="304800"/>
          </a:xfrm>
          <a:custGeom>
            <a:avLst/>
            <a:gdLst/>
            <a:ahLst/>
            <a:cxnLst/>
            <a:rect l="l" t="t" r="r" b="b"/>
            <a:pathLst>
              <a:path w="457200" h="304800">
                <a:moveTo>
                  <a:pt x="0" y="0"/>
                </a:moveTo>
                <a:lnTo>
                  <a:pt x="457200" y="304800"/>
                </a:lnTo>
              </a:path>
            </a:pathLst>
          </a:custGeom>
          <a:noFill/>
          <a:ln w="28575">
            <a:solidFill>
              <a:srgbClr val="5B8FD9"/>
            </a:solidFill>
          </a:ln>
        </p:spPr>
      </p:sp>
      <p:sp>
        <p:nvSpPr>
          <p:cNvPr id="28" name="Polygon 28"/>
          <p:cNvSpPr/>
          <p:nvPr/>
        </p:nvSpPr>
        <p:spPr>
          <a:xfrm>
            <a:off x="2895600" y="2828925"/>
            <a:ext cx="114300" cy="123825"/>
          </a:xfrm>
          <a:custGeom>
            <a:avLst/>
            <a:gdLst/>
            <a:ahLst/>
            <a:cxnLst/>
            <a:rect l="l" t="t" r="r" b="b"/>
            <a:pathLst>
              <a:path w="114300" h="123825">
                <a:moveTo>
                  <a:pt x="114300" y="123825"/>
                </a:moveTo>
                <a:lnTo>
                  <a:pt x="0" y="95250"/>
                </a:lnTo>
                <a:lnTo>
                  <a:pt x="57150" y="0"/>
                </a:lnTo>
                <a:close/>
              </a:path>
            </a:pathLst>
          </a:custGeom>
          <a:solidFill>
            <a:srgbClr val="5B8FD9"/>
          </a:solidFill>
          <a:ln>
            <a:noFill/>
          </a:ln>
        </p:spPr>
      </p:sp>
      <p:sp>
        <p:nvSpPr>
          <p:cNvPr id="29" name="Line 29"/>
          <p:cNvSpPr/>
          <p:nvPr/>
        </p:nvSpPr>
        <p:spPr>
          <a:xfrm>
            <a:off x="3657600" y="2647950"/>
            <a:ext cx="457200" cy="304800"/>
          </a:xfrm>
          <a:custGeom>
            <a:avLst/>
            <a:gdLst/>
            <a:ahLst/>
            <a:cxnLst/>
            <a:rect l="l" t="t" r="r" b="b"/>
            <a:pathLst>
              <a:path w="457200" h="304800">
                <a:moveTo>
                  <a:pt x="457200" y="0"/>
                </a:moveTo>
                <a:lnTo>
                  <a:pt x="0" y="304800"/>
                </a:lnTo>
              </a:path>
            </a:pathLst>
          </a:custGeom>
          <a:noFill/>
          <a:ln w="28575">
            <a:solidFill>
              <a:srgbClr val="5B8FD9"/>
            </a:solidFill>
          </a:ln>
        </p:spPr>
      </p:sp>
      <p:sp>
        <p:nvSpPr>
          <p:cNvPr id="30" name="Polygon 30"/>
          <p:cNvSpPr/>
          <p:nvPr/>
        </p:nvSpPr>
        <p:spPr>
          <a:xfrm>
            <a:off x="3657600" y="2828925"/>
            <a:ext cx="114300" cy="123825"/>
          </a:xfrm>
          <a:custGeom>
            <a:avLst/>
            <a:gdLst/>
            <a:ahLst/>
            <a:cxnLst/>
            <a:rect l="l" t="t" r="r" b="b"/>
            <a:pathLst>
              <a:path w="114300" h="123825">
                <a:moveTo>
                  <a:pt x="0" y="123825"/>
                </a:moveTo>
                <a:lnTo>
                  <a:pt x="57150" y="0"/>
                </a:lnTo>
                <a:lnTo>
                  <a:pt x="114300" y="95250"/>
                </a:lnTo>
                <a:close/>
              </a:path>
            </a:pathLst>
          </a:custGeom>
          <a:solidFill>
            <a:srgbClr val="5B8FD9"/>
          </a:solidFill>
          <a:ln>
            <a:noFill/>
          </a:ln>
        </p:spPr>
      </p:sp>
      <p:sp>
        <p:nvSpPr>
          <p:cNvPr id="31" name="Line 31"/>
          <p:cNvSpPr/>
          <p:nvPr/>
        </p:nvSpPr>
        <p:spPr>
          <a:xfrm>
            <a:off x="2552700" y="4057650"/>
            <a:ext cx="457200" cy="304800"/>
          </a:xfrm>
          <a:custGeom>
            <a:avLst/>
            <a:gdLst/>
            <a:ahLst/>
            <a:cxnLst/>
            <a:rect l="l" t="t" r="r" b="b"/>
            <a:pathLst>
              <a:path w="457200" h="304800">
                <a:moveTo>
                  <a:pt x="0" y="304800"/>
                </a:moveTo>
                <a:lnTo>
                  <a:pt x="457200" y="0"/>
                </a:lnTo>
              </a:path>
            </a:pathLst>
          </a:custGeom>
          <a:noFill/>
          <a:ln w="28575">
            <a:solidFill>
              <a:srgbClr val="D97A32"/>
            </a:solidFill>
          </a:ln>
        </p:spPr>
      </p:sp>
      <p:sp>
        <p:nvSpPr>
          <p:cNvPr id="32" name="Polygon 32"/>
          <p:cNvSpPr/>
          <p:nvPr/>
        </p:nvSpPr>
        <p:spPr>
          <a:xfrm>
            <a:off x="2895600" y="4057650"/>
            <a:ext cx="114300" cy="123825"/>
          </a:xfrm>
          <a:custGeom>
            <a:avLst/>
            <a:gdLst/>
            <a:ahLst/>
            <a:cxnLst/>
            <a:rect l="l" t="t" r="r" b="b"/>
            <a:pathLst>
              <a:path w="114300" h="123825">
                <a:moveTo>
                  <a:pt x="114300" y="0"/>
                </a:moveTo>
                <a:lnTo>
                  <a:pt x="57150" y="123825"/>
                </a:lnTo>
                <a:lnTo>
                  <a:pt x="0" y="28575"/>
                </a:lnTo>
                <a:close/>
              </a:path>
            </a:pathLst>
          </a:custGeom>
          <a:solidFill>
            <a:srgbClr val="D97A32"/>
          </a:solidFill>
          <a:ln>
            <a:noFill/>
          </a:ln>
        </p:spPr>
      </p:sp>
      <p:sp>
        <p:nvSpPr>
          <p:cNvPr id="33" name="Line 33"/>
          <p:cNvSpPr/>
          <p:nvPr/>
        </p:nvSpPr>
        <p:spPr>
          <a:xfrm>
            <a:off x="3657600" y="4057650"/>
            <a:ext cx="457200" cy="304800"/>
          </a:xfrm>
          <a:custGeom>
            <a:avLst/>
            <a:gdLst/>
            <a:ahLst/>
            <a:cxnLst/>
            <a:rect l="l" t="t" r="r" b="b"/>
            <a:pathLst>
              <a:path w="457200" h="304800">
                <a:moveTo>
                  <a:pt x="457200" y="304800"/>
                </a:moveTo>
                <a:lnTo>
                  <a:pt x="0" y="0"/>
                </a:lnTo>
              </a:path>
            </a:pathLst>
          </a:custGeom>
          <a:noFill/>
          <a:ln w="28575">
            <a:solidFill>
              <a:srgbClr val="D97A32"/>
            </a:solidFill>
          </a:ln>
        </p:spPr>
      </p:sp>
      <p:sp>
        <p:nvSpPr>
          <p:cNvPr id="34" name="Polygon 34"/>
          <p:cNvSpPr/>
          <p:nvPr/>
        </p:nvSpPr>
        <p:spPr>
          <a:xfrm>
            <a:off x="3657600" y="4057650"/>
            <a:ext cx="114300" cy="123825"/>
          </a:xfrm>
          <a:custGeom>
            <a:avLst/>
            <a:gdLst/>
            <a:ahLst/>
            <a:cxnLst/>
            <a:rect l="l" t="t" r="r" b="b"/>
            <a:pathLst>
              <a:path w="114300" h="123825">
                <a:moveTo>
                  <a:pt x="0" y="0"/>
                </a:moveTo>
                <a:lnTo>
                  <a:pt x="114300" y="28575"/>
                </a:lnTo>
                <a:lnTo>
                  <a:pt x="57150" y="123825"/>
                </a:lnTo>
                <a:close/>
              </a:path>
            </a:pathLst>
          </a:custGeom>
          <a:solidFill>
            <a:srgbClr val="D97A32"/>
          </a:solidFill>
          <a:ln>
            <a:noFill/>
          </a:ln>
        </p:spPr>
      </p:sp>
      <p:sp>
        <p:nvSpPr>
          <p:cNvPr id="35" name="Rectangle 35"/>
          <p:cNvSpPr/>
          <p:nvPr/>
        </p:nvSpPr>
        <p:spPr>
          <a:xfrm>
            <a:off x="685800" y="5486400"/>
            <a:ext cx="5200650" cy="400050"/>
          </a:xfrm>
          <a:prstGeom prst="rect">
            <a:avLst/>
          </a:prstGeom>
          <a:solidFill>
            <a:srgbClr val="EAF1FB"/>
          </a:solidFill>
          <a:ln>
            <a:noFill/>
          </a:ln>
        </p:spPr>
      </p:sp>
      <p:sp>
        <p:nvSpPr>
          <p:cNvPr id="36" name="TextBox 36"/>
          <p:cNvSpPr txBox="1"/>
          <p:nvPr/>
        </p:nvSpPr>
        <p:spPr>
          <a:xfrm>
            <a:off x="586360" y="5605939"/>
            <a:ext cx="5399531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75" b="1" dirty="0">
                <a:solidFill>
                  <a:srgbClr val="1F4E79"/>
                </a:solidFill>
                <a:latin typeface="Arial"/>
                <a:ea typeface="Microsoft YaHei"/>
                <a:cs typeface="Arial"/>
              </a:rPr>
              <a:t>前台界面可立即使用，后台网络与 AI 服务持续探测并延后就绪</a:t>
            </a:r>
          </a:p>
        </p:txBody>
      </p:sp>
      <p:sp>
        <p:nvSpPr>
          <p:cNvPr id="37" name="Rectangle 37"/>
          <p:cNvSpPr/>
          <p:nvPr/>
        </p:nvSpPr>
        <p:spPr>
          <a:xfrm>
            <a:off x="6477000" y="1381125"/>
            <a:ext cx="5334000" cy="4714875"/>
          </a:xfrm>
          <a:prstGeom prst="rect">
            <a:avLst/>
          </a:prstGeom>
          <a:solidFill>
            <a:srgbClr val="FFFFFF"/>
          </a:solidFill>
          <a:ln w="9525">
            <a:solidFill>
              <a:srgbClr val="C9D7E8"/>
            </a:solidFill>
          </a:ln>
        </p:spPr>
      </p:sp>
      <p:sp>
        <p:nvSpPr>
          <p:cNvPr id="38" name="TextBox 38"/>
          <p:cNvSpPr txBox="1"/>
          <p:nvPr/>
        </p:nvSpPr>
        <p:spPr>
          <a:xfrm>
            <a:off x="6758940" y="1577340"/>
            <a:ext cx="1701927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4E79"/>
                </a:solidFill>
                <a:latin typeface="Arial"/>
                <a:ea typeface="Microsoft YaHei"/>
                <a:cs typeface="Arial"/>
              </a:rPr>
              <a:t>关键模块说明</a:t>
            </a:r>
          </a:p>
        </p:txBody>
      </p:sp>
      <p:sp>
        <p:nvSpPr>
          <p:cNvPr id="39" name="Rectangle 39"/>
          <p:cNvSpPr/>
          <p:nvPr/>
        </p:nvSpPr>
        <p:spPr>
          <a:xfrm>
            <a:off x="6781800" y="2038350"/>
            <a:ext cx="4724400" cy="876300"/>
          </a:xfrm>
          <a:prstGeom prst="rect">
            <a:avLst/>
          </a:prstGeom>
          <a:solidFill>
            <a:srgbClr val="F8FBFF"/>
          </a:solidFill>
          <a:ln w="9525">
            <a:solidFill>
              <a:srgbClr val="D7E3F1"/>
            </a:solidFill>
          </a:ln>
        </p:spPr>
      </p:sp>
      <p:sp>
        <p:nvSpPr>
          <p:cNvPr id="40" name="TextBox 40"/>
          <p:cNvSpPr txBox="1"/>
          <p:nvPr/>
        </p:nvSpPr>
        <p:spPr>
          <a:xfrm>
            <a:off x="7049452" y="2189321"/>
            <a:ext cx="1598665" cy="289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5" b="1" dirty="0">
                <a:solidFill>
                  <a:srgbClr val="233142"/>
                </a:solidFill>
                <a:latin typeface="Arial"/>
                <a:ea typeface="Microsoft YaHei"/>
                <a:cs typeface="Arial"/>
              </a:rPr>
              <a:t>显示 / 触摸模块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7052310" y="2451735"/>
            <a:ext cx="248412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B6572"/>
                </a:solidFill>
                <a:latin typeface="Arial"/>
                <a:ea typeface="Microsoft YaHei"/>
                <a:cs typeface="Arial"/>
              </a:rPr>
              <a:t>负责手表页面显示、触摸输入与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7052310" y="2661285"/>
            <a:ext cx="303618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B6572"/>
                </a:solidFill>
                <a:latin typeface="Arial"/>
                <a:ea typeface="Microsoft YaHei"/>
                <a:cs typeface="Arial"/>
              </a:rPr>
              <a:t>UI 主线程刷新，保证交互层稳定运行。</a:t>
            </a:r>
          </a:p>
        </p:txBody>
      </p:sp>
      <p:sp>
        <p:nvSpPr>
          <p:cNvPr id="43" name="Rectangle 43"/>
          <p:cNvSpPr/>
          <p:nvPr/>
        </p:nvSpPr>
        <p:spPr>
          <a:xfrm>
            <a:off x="6781800" y="3067050"/>
            <a:ext cx="4724400" cy="876300"/>
          </a:xfrm>
          <a:prstGeom prst="rect">
            <a:avLst/>
          </a:prstGeom>
          <a:solidFill>
            <a:srgbClr val="F8FBFF"/>
          </a:solidFill>
          <a:ln w="9525">
            <a:solidFill>
              <a:srgbClr val="D7E3F1"/>
            </a:solidFill>
          </a:ln>
        </p:spPr>
      </p:sp>
      <p:sp>
        <p:nvSpPr>
          <p:cNvPr id="44" name="TextBox 44"/>
          <p:cNvSpPr txBox="1"/>
          <p:nvPr/>
        </p:nvSpPr>
        <p:spPr>
          <a:xfrm>
            <a:off x="7049452" y="3218021"/>
            <a:ext cx="910304" cy="289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5" b="1" dirty="0">
                <a:solidFill>
                  <a:srgbClr val="233142"/>
                </a:solidFill>
                <a:latin typeface="Arial"/>
                <a:ea typeface="Microsoft YaHei"/>
                <a:cs typeface="Arial"/>
              </a:rPr>
              <a:t>联网模块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7052310" y="3480435"/>
            <a:ext cx="266814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B6572"/>
                </a:solidFill>
                <a:latin typeface="Arial"/>
                <a:ea typeface="Microsoft YaHei"/>
                <a:cs typeface="Arial"/>
              </a:rPr>
              <a:t>负责 Wi-Fi 自动连接、配网入口与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7052310" y="3689985"/>
            <a:ext cx="326402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B6572"/>
                </a:solidFill>
                <a:latin typeface="Arial"/>
                <a:ea typeface="Microsoft YaHei"/>
                <a:cs typeface="Arial"/>
              </a:rPr>
              <a:t>服务可用性探测，为 AI 页提供状态依据。</a:t>
            </a:r>
          </a:p>
        </p:txBody>
      </p:sp>
      <p:sp>
        <p:nvSpPr>
          <p:cNvPr id="47" name="Rectangle 47"/>
          <p:cNvSpPr/>
          <p:nvPr/>
        </p:nvSpPr>
        <p:spPr>
          <a:xfrm>
            <a:off x="6781800" y="4095750"/>
            <a:ext cx="4724400" cy="876300"/>
          </a:xfrm>
          <a:prstGeom prst="rect">
            <a:avLst/>
          </a:prstGeom>
          <a:solidFill>
            <a:srgbClr val="FFF8F2"/>
          </a:solidFill>
          <a:ln w="9525">
            <a:solidFill>
              <a:srgbClr val="F1C7A8"/>
            </a:solidFill>
          </a:ln>
        </p:spPr>
      </p:sp>
      <p:sp>
        <p:nvSpPr>
          <p:cNvPr id="48" name="TextBox 48"/>
          <p:cNvSpPr txBox="1"/>
          <p:nvPr/>
        </p:nvSpPr>
        <p:spPr>
          <a:xfrm>
            <a:off x="7049452" y="4246721"/>
            <a:ext cx="1347359" cy="289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5" b="1" dirty="0">
                <a:solidFill>
                  <a:srgbClr val="233142"/>
                </a:solidFill>
                <a:latin typeface="Arial"/>
                <a:ea typeface="Microsoft YaHei"/>
                <a:cs typeface="Arial"/>
              </a:rPr>
              <a:t>危险检测模块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7052310" y="4509135"/>
            <a:ext cx="248412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B6572"/>
                </a:solidFill>
                <a:latin typeface="Arial"/>
                <a:ea typeface="Microsoft YaHei"/>
                <a:cs typeface="Arial"/>
              </a:rPr>
              <a:t>负责离线音频推理、状态判定和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7052310" y="4718685"/>
            <a:ext cx="328155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B6572"/>
                </a:solidFill>
                <a:latin typeface="Arial"/>
                <a:ea typeface="Microsoft YaHei"/>
                <a:cs typeface="Arial"/>
              </a:rPr>
              <a:t>红屏/提示音联动，是安全感知核心路径。</a:t>
            </a:r>
          </a:p>
        </p:txBody>
      </p:sp>
      <p:sp>
        <p:nvSpPr>
          <p:cNvPr id="51" name="Rectangle 51"/>
          <p:cNvSpPr/>
          <p:nvPr/>
        </p:nvSpPr>
        <p:spPr>
          <a:xfrm>
            <a:off x="6781800" y="5124450"/>
            <a:ext cx="4724400" cy="876300"/>
          </a:xfrm>
          <a:prstGeom prst="rect">
            <a:avLst/>
          </a:prstGeom>
          <a:solidFill>
            <a:srgbClr val="EAF1FB"/>
          </a:solidFill>
          <a:ln w="9525">
            <a:solidFill>
              <a:srgbClr val="C9D7E8"/>
            </a:solidFill>
          </a:ln>
        </p:spPr>
      </p:sp>
      <p:sp>
        <p:nvSpPr>
          <p:cNvPr id="52" name="TextBox 52"/>
          <p:cNvSpPr txBox="1"/>
          <p:nvPr/>
        </p:nvSpPr>
        <p:spPr>
          <a:xfrm>
            <a:off x="7049452" y="5275421"/>
            <a:ext cx="1161611" cy="289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5" b="1" dirty="0">
                <a:solidFill>
                  <a:srgbClr val="233142"/>
                </a:solidFill>
                <a:latin typeface="Arial"/>
                <a:ea typeface="Microsoft YaHei"/>
                <a:cs typeface="Arial"/>
              </a:rPr>
              <a:t>AI 对话模块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7052310" y="5537835"/>
            <a:ext cx="300990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B6572"/>
                </a:solidFill>
                <a:latin typeface="Arial"/>
                <a:ea typeface="Microsoft YaHei"/>
                <a:cs typeface="Arial"/>
              </a:rPr>
              <a:t>负责联网后进入对话前台、消息缓存，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7052310" y="5747385"/>
            <a:ext cx="318516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B6572"/>
                </a:solidFill>
                <a:latin typeface="Arial"/>
                <a:ea typeface="Microsoft YaHei"/>
                <a:cs typeface="Arial"/>
              </a:rPr>
              <a:t>以及页面状态切换与会话生命周期管理。</a:t>
            </a:r>
          </a:p>
        </p:txBody>
      </p:sp>
      <p:sp>
        <p:nvSpPr>
          <p:cNvPr id="55" name="Line 55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AF1FB"/>
            </a:solidFill>
          </a:ln>
        </p:spPr>
      </p:sp>
      <p:sp>
        <p:nvSpPr>
          <p:cNvPr id="56" name="TextBox 56"/>
          <p:cNvSpPr txBox="1"/>
          <p:nvPr/>
        </p:nvSpPr>
        <p:spPr>
          <a:xfrm>
            <a:off x="369570" y="6522720"/>
            <a:ext cx="238887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D97A5"/>
                </a:solidFill>
                <a:latin typeface="Arial"/>
                <a:ea typeface="Microsoft YaHei"/>
                <a:cs typeface="Arial"/>
              </a:rPr>
              <a:t>数据来源：项目上下文文档、结题报告书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5821680" y="6522720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8D97A5"/>
                </a:solidFill>
                <a:latin typeface="Arial"/>
                <a:ea typeface="Microsoft YaHei"/>
                <a:cs typeface="Arial"/>
              </a:rPr>
              <a:t>系统架构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11438477" y="6506528"/>
            <a:ext cx="19535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5B6572"/>
                </a:solidFill>
                <a:latin typeface="Arial"/>
                <a:ea typeface="Microsoft YaHei"/>
                <a:cs typeface="Arial"/>
              </a:rPr>
              <a:t>04</a:t>
            </a:r>
          </a:p>
        </p:txBody>
      </p:sp>
    </p:spTree>
  </p:cSld>
  <p:clrMapOvr>
    <a:masterClrMapping/>
  </p:clrMapOvr>
  <p:transition 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1F4E79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D97A32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54330" y="211455"/>
            <a:ext cx="3724599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04 离线模型识别危险信号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947148" y="292418"/>
            <a:ext cx="169049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广州城市理工学院</a:t>
            </a:r>
          </a:p>
        </p:txBody>
      </p:sp>
      <p:sp>
        <p:nvSpPr>
          <p:cNvPr id="7" name="Rectangle 7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AF1FB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D97A32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363855" y="825818"/>
            <a:ext cx="713232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233142"/>
                </a:solidFill>
                <a:latin typeface="Arial"/>
                <a:ea typeface="Microsoft YaHei"/>
                <a:cs typeface="Arial"/>
              </a:rPr>
              <a:t>识别链路部署在端侧，本地即可完成危险声音感知与提醒，不依赖云端实时返回。</a:t>
            </a:r>
          </a:p>
        </p:txBody>
      </p:sp>
      <p:sp>
        <p:nvSpPr>
          <p:cNvPr id="10" name="Rectangle 10"/>
          <p:cNvSpPr/>
          <p:nvPr/>
        </p:nvSpPr>
        <p:spPr>
          <a:xfrm>
            <a:off x="381000" y="1381125"/>
            <a:ext cx="6191250" cy="4714875"/>
          </a:xfrm>
          <a:prstGeom prst="rect">
            <a:avLst/>
          </a:prstGeom>
          <a:solidFill>
            <a:srgbClr val="F8FBFF"/>
          </a:solidFill>
          <a:ln w="9525">
            <a:solidFill>
              <a:srgbClr val="C9D7E8"/>
            </a:solidFill>
          </a:ln>
        </p:spPr>
      </p:sp>
      <p:sp>
        <p:nvSpPr>
          <p:cNvPr id="11" name="TextBox 11"/>
          <p:cNvSpPr txBox="1"/>
          <p:nvPr/>
        </p:nvSpPr>
        <p:spPr>
          <a:xfrm>
            <a:off x="662940" y="1577340"/>
            <a:ext cx="1977962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4E79"/>
                </a:solidFill>
                <a:latin typeface="Arial"/>
                <a:ea typeface="Microsoft YaHei"/>
                <a:cs typeface="Arial"/>
              </a:rPr>
              <a:t>离线识别流程图</a:t>
            </a:r>
          </a:p>
        </p:txBody>
      </p:sp>
      <p:sp>
        <p:nvSpPr>
          <p:cNvPr id="12" name="Rectangle 12"/>
          <p:cNvSpPr/>
          <p:nvPr/>
        </p:nvSpPr>
        <p:spPr>
          <a:xfrm>
            <a:off x="685800" y="2152650"/>
            <a:ext cx="1390650" cy="704850"/>
          </a:xfrm>
          <a:prstGeom prst="rect">
            <a:avLst/>
          </a:prstGeom>
          <a:solidFill>
            <a:srgbClr val="FFFFFF"/>
          </a:solidFill>
          <a:ln w="19050">
            <a:solidFill>
              <a:srgbClr val="5B8FD9"/>
            </a:solidFill>
          </a:ln>
        </p:spPr>
      </p:sp>
      <p:sp>
        <p:nvSpPr>
          <p:cNvPr id="13" name="TextBox 13"/>
          <p:cNvSpPr txBox="1"/>
          <p:nvPr/>
        </p:nvSpPr>
        <p:spPr>
          <a:xfrm>
            <a:off x="925973" y="2275046"/>
            <a:ext cx="910304" cy="289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425" b="1" dirty="0">
                <a:solidFill>
                  <a:srgbClr val="233142"/>
                </a:solidFill>
                <a:latin typeface="Arial"/>
                <a:ea typeface="Microsoft YaHei"/>
                <a:cs typeface="Arial"/>
              </a:rPr>
              <a:t>音频采集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84409" y="2544128"/>
            <a:ext cx="79343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5B6572"/>
                </a:solidFill>
                <a:latin typeface="Arial"/>
                <a:ea typeface="Microsoft YaHei"/>
                <a:cs typeface="Arial"/>
              </a:rPr>
              <a:t>麦克风输入</a:t>
            </a:r>
          </a:p>
        </p:txBody>
      </p:sp>
      <p:sp>
        <p:nvSpPr>
          <p:cNvPr id="15" name="Rectangle 15"/>
          <p:cNvSpPr/>
          <p:nvPr/>
        </p:nvSpPr>
        <p:spPr>
          <a:xfrm>
            <a:off x="2571750" y="2152650"/>
            <a:ext cx="1390650" cy="704850"/>
          </a:xfrm>
          <a:prstGeom prst="rect">
            <a:avLst/>
          </a:prstGeom>
          <a:solidFill>
            <a:srgbClr val="FFFFFF"/>
          </a:solidFill>
          <a:ln w="19050">
            <a:solidFill>
              <a:srgbClr val="5B8FD9"/>
            </a:solidFill>
          </a:ln>
        </p:spPr>
      </p:sp>
      <p:sp>
        <p:nvSpPr>
          <p:cNvPr id="16" name="TextBox 16"/>
          <p:cNvSpPr txBox="1"/>
          <p:nvPr/>
        </p:nvSpPr>
        <p:spPr>
          <a:xfrm>
            <a:off x="2811923" y="2275046"/>
            <a:ext cx="910304" cy="289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425" b="1" dirty="0">
                <a:solidFill>
                  <a:srgbClr val="233142"/>
                </a:solidFill>
                <a:latin typeface="Arial"/>
                <a:ea typeface="Microsoft YaHei"/>
                <a:cs typeface="Arial"/>
              </a:rPr>
              <a:t>通道抽取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2947035" y="2544128"/>
            <a:ext cx="64008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5B6572"/>
                </a:solidFill>
                <a:latin typeface="Arial"/>
                <a:ea typeface="Microsoft YaHei"/>
                <a:cs typeface="Arial"/>
              </a:rPr>
              <a:t>主麦声道</a:t>
            </a:r>
          </a:p>
        </p:txBody>
      </p:sp>
      <p:sp>
        <p:nvSpPr>
          <p:cNvPr id="18" name="Rectangle 18"/>
          <p:cNvSpPr/>
          <p:nvPr/>
        </p:nvSpPr>
        <p:spPr>
          <a:xfrm>
            <a:off x="4457700" y="2152650"/>
            <a:ext cx="1390650" cy="704850"/>
          </a:xfrm>
          <a:prstGeom prst="rect">
            <a:avLst/>
          </a:prstGeom>
          <a:solidFill>
            <a:srgbClr val="FFFFFF"/>
          </a:solidFill>
          <a:ln w="19050">
            <a:solidFill>
              <a:srgbClr val="5B8FD9"/>
            </a:solidFill>
          </a:ln>
        </p:spPr>
      </p:sp>
      <p:sp>
        <p:nvSpPr>
          <p:cNvPr id="19" name="TextBox 19"/>
          <p:cNvSpPr txBox="1"/>
          <p:nvPr/>
        </p:nvSpPr>
        <p:spPr>
          <a:xfrm>
            <a:off x="4807137" y="2275046"/>
            <a:ext cx="691777" cy="289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425" b="1" dirty="0">
                <a:solidFill>
                  <a:srgbClr val="233142"/>
                </a:solidFill>
                <a:latin typeface="Arial"/>
                <a:ea typeface="Microsoft YaHei"/>
                <a:cs typeface="Arial"/>
              </a:rPr>
              <a:t>重采样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4648962" y="2544128"/>
            <a:ext cx="100812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5B6572"/>
                </a:solidFill>
                <a:latin typeface="Arial"/>
                <a:ea typeface="Microsoft YaHei"/>
                <a:cs typeface="Arial"/>
              </a:rPr>
              <a:t>24kHz → 16kHz</a:t>
            </a:r>
          </a:p>
        </p:txBody>
      </p:sp>
      <p:sp>
        <p:nvSpPr>
          <p:cNvPr id="21" name="Line 21"/>
          <p:cNvSpPr/>
          <p:nvPr/>
        </p:nvSpPr>
        <p:spPr>
          <a:xfrm>
            <a:off x="2076450" y="2505075"/>
            <a:ext cx="495300" cy="9525"/>
          </a:xfrm>
          <a:custGeom>
            <a:avLst/>
            <a:gdLst/>
            <a:ahLst/>
            <a:cxnLst/>
            <a:rect l="l" t="t" r="r" b="b"/>
            <a:pathLst>
              <a:path w="495300" h="9525">
                <a:moveTo>
                  <a:pt x="0" y="0"/>
                </a:moveTo>
                <a:lnTo>
                  <a:pt x="495300" y="0"/>
                </a:lnTo>
              </a:path>
            </a:pathLst>
          </a:custGeom>
          <a:noFill/>
          <a:ln w="28575">
            <a:solidFill>
              <a:srgbClr val="5B8FD9"/>
            </a:solidFill>
          </a:ln>
        </p:spPr>
      </p:sp>
      <p:sp>
        <p:nvSpPr>
          <p:cNvPr id="22" name="Polygon 22"/>
          <p:cNvSpPr/>
          <p:nvPr/>
        </p:nvSpPr>
        <p:spPr>
          <a:xfrm>
            <a:off x="2457450" y="2447925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114300" y="57150"/>
                </a:moveTo>
                <a:lnTo>
                  <a:pt x="0" y="0"/>
                </a:lnTo>
                <a:lnTo>
                  <a:pt x="0" y="114300"/>
                </a:lnTo>
                <a:close/>
              </a:path>
            </a:pathLst>
          </a:custGeom>
          <a:solidFill>
            <a:srgbClr val="5B8FD9"/>
          </a:solidFill>
          <a:ln>
            <a:noFill/>
          </a:ln>
        </p:spPr>
      </p:sp>
      <p:sp>
        <p:nvSpPr>
          <p:cNvPr id="23" name="Line 23"/>
          <p:cNvSpPr/>
          <p:nvPr/>
        </p:nvSpPr>
        <p:spPr>
          <a:xfrm>
            <a:off x="3962400" y="2505075"/>
            <a:ext cx="495300" cy="9525"/>
          </a:xfrm>
          <a:custGeom>
            <a:avLst/>
            <a:gdLst/>
            <a:ahLst/>
            <a:cxnLst/>
            <a:rect l="l" t="t" r="r" b="b"/>
            <a:pathLst>
              <a:path w="495300" h="9525">
                <a:moveTo>
                  <a:pt x="0" y="0"/>
                </a:moveTo>
                <a:lnTo>
                  <a:pt x="495300" y="0"/>
                </a:lnTo>
              </a:path>
            </a:pathLst>
          </a:custGeom>
          <a:noFill/>
          <a:ln w="28575">
            <a:solidFill>
              <a:srgbClr val="5B8FD9"/>
            </a:solidFill>
          </a:ln>
        </p:spPr>
      </p:sp>
      <p:sp>
        <p:nvSpPr>
          <p:cNvPr id="24" name="Polygon 24"/>
          <p:cNvSpPr/>
          <p:nvPr/>
        </p:nvSpPr>
        <p:spPr>
          <a:xfrm>
            <a:off x="4343400" y="2447925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114300" y="57150"/>
                </a:moveTo>
                <a:lnTo>
                  <a:pt x="0" y="0"/>
                </a:lnTo>
                <a:lnTo>
                  <a:pt x="0" y="114300"/>
                </a:lnTo>
                <a:close/>
              </a:path>
            </a:pathLst>
          </a:custGeom>
          <a:solidFill>
            <a:srgbClr val="5B8FD9"/>
          </a:solidFill>
          <a:ln>
            <a:noFill/>
          </a:ln>
        </p:spPr>
      </p:sp>
      <p:sp>
        <p:nvSpPr>
          <p:cNvPr id="25" name="Rectangle 25"/>
          <p:cNvSpPr/>
          <p:nvPr/>
        </p:nvSpPr>
        <p:spPr>
          <a:xfrm>
            <a:off x="1628775" y="3429000"/>
            <a:ext cx="1390650" cy="704850"/>
          </a:xfrm>
          <a:prstGeom prst="rect">
            <a:avLst/>
          </a:prstGeom>
          <a:solidFill>
            <a:srgbClr val="FFFFFF"/>
          </a:solidFill>
          <a:ln w="19050">
            <a:solidFill>
              <a:srgbClr val="D97A32"/>
            </a:solidFill>
          </a:ln>
        </p:spPr>
      </p:sp>
      <p:sp>
        <p:nvSpPr>
          <p:cNvPr id="26" name="TextBox 26"/>
          <p:cNvSpPr txBox="1"/>
          <p:nvPr/>
        </p:nvSpPr>
        <p:spPr>
          <a:xfrm>
            <a:off x="1868948" y="3551396"/>
            <a:ext cx="910304" cy="289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425" b="1" dirty="0">
                <a:solidFill>
                  <a:srgbClr val="233142"/>
                </a:solidFill>
                <a:latin typeface="Arial"/>
                <a:ea typeface="Microsoft YaHei"/>
                <a:cs typeface="Arial"/>
              </a:rPr>
              <a:t>滑窗推理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2015561" y="3820478"/>
            <a:ext cx="61707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5B6572"/>
                </a:solidFill>
                <a:latin typeface="Arial"/>
                <a:ea typeface="Microsoft YaHei"/>
                <a:cs typeface="Arial"/>
              </a:rPr>
              <a:t>3 秒窗口</a:t>
            </a:r>
          </a:p>
        </p:txBody>
      </p:sp>
      <p:sp>
        <p:nvSpPr>
          <p:cNvPr id="28" name="Rectangle 28"/>
          <p:cNvSpPr/>
          <p:nvPr/>
        </p:nvSpPr>
        <p:spPr>
          <a:xfrm>
            <a:off x="3514725" y="3429000"/>
            <a:ext cx="1390650" cy="704850"/>
          </a:xfrm>
          <a:prstGeom prst="rect">
            <a:avLst/>
          </a:prstGeom>
          <a:solidFill>
            <a:srgbClr val="FFFFFF"/>
          </a:solidFill>
          <a:ln w="19050">
            <a:solidFill>
              <a:srgbClr val="D97A32"/>
            </a:solidFill>
          </a:ln>
        </p:spPr>
      </p:sp>
      <p:sp>
        <p:nvSpPr>
          <p:cNvPr id="29" name="TextBox 29"/>
          <p:cNvSpPr txBox="1"/>
          <p:nvPr/>
        </p:nvSpPr>
        <p:spPr>
          <a:xfrm>
            <a:off x="3864162" y="3551396"/>
            <a:ext cx="691777" cy="289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425" b="1" dirty="0">
                <a:solidFill>
                  <a:srgbClr val="233142"/>
                </a:solidFill>
                <a:latin typeface="Arial"/>
                <a:ea typeface="Microsoft YaHei"/>
                <a:cs typeface="Arial"/>
              </a:rPr>
              <a:t>后处理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3659981" y="3820478"/>
            <a:ext cx="110013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5B6572"/>
                </a:solidFill>
                <a:latin typeface="Arial"/>
                <a:ea typeface="Microsoft YaHei"/>
                <a:cs typeface="Arial"/>
              </a:rPr>
              <a:t>阈值与状态判定</a:t>
            </a:r>
          </a:p>
        </p:txBody>
      </p:sp>
      <p:sp>
        <p:nvSpPr>
          <p:cNvPr id="31" name="Rectangle 31"/>
          <p:cNvSpPr/>
          <p:nvPr/>
        </p:nvSpPr>
        <p:spPr>
          <a:xfrm>
            <a:off x="5400675" y="3429000"/>
            <a:ext cx="866775" cy="704850"/>
          </a:xfrm>
          <a:prstGeom prst="rect">
            <a:avLst/>
          </a:prstGeom>
          <a:solidFill>
            <a:srgbClr val="D97A32"/>
          </a:solidFill>
          <a:ln>
            <a:noFill/>
          </a:ln>
        </p:spPr>
      </p:sp>
      <p:sp>
        <p:nvSpPr>
          <p:cNvPr id="32" name="TextBox 32"/>
          <p:cNvSpPr txBox="1"/>
          <p:nvPr/>
        </p:nvSpPr>
        <p:spPr>
          <a:xfrm>
            <a:off x="5605129" y="3559492"/>
            <a:ext cx="44834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告警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5344406" y="3820478"/>
            <a:ext cx="96978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红屏 + 提示音</a:t>
            </a:r>
          </a:p>
        </p:txBody>
      </p:sp>
      <p:sp>
        <p:nvSpPr>
          <p:cNvPr id="34" name="Line 34"/>
          <p:cNvSpPr/>
          <p:nvPr/>
        </p:nvSpPr>
        <p:spPr>
          <a:xfrm>
            <a:off x="2324100" y="2857500"/>
            <a:ext cx="9525" cy="571500"/>
          </a:xfrm>
          <a:custGeom>
            <a:avLst/>
            <a:gdLst/>
            <a:ahLst/>
            <a:cxnLst/>
            <a:rect l="l" t="t" r="r" b="b"/>
            <a:pathLst>
              <a:path w="9525" h="571500">
                <a:moveTo>
                  <a:pt x="0" y="0"/>
                </a:moveTo>
                <a:lnTo>
                  <a:pt x="0" y="571500"/>
                </a:lnTo>
              </a:path>
            </a:pathLst>
          </a:custGeom>
          <a:noFill/>
          <a:ln w="28575">
            <a:solidFill>
              <a:srgbClr val="D97A32"/>
            </a:solidFill>
          </a:ln>
        </p:spPr>
      </p:sp>
      <p:sp>
        <p:nvSpPr>
          <p:cNvPr id="35" name="Polygon 35"/>
          <p:cNvSpPr/>
          <p:nvPr/>
        </p:nvSpPr>
        <p:spPr>
          <a:xfrm>
            <a:off x="2266950" y="3314700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57150" y="114300"/>
                </a:moveTo>
                <a:lnTo>
                  <a:pt x="0" y="0"/>
                </a:lnTo>
                <a:lnTo>
                  <a:pt x="114300" y="0"/>
                </a:lnTo>
                <a:close/>
              </a:path>
            </a:pathLst>
          </a:custGeom>
          <a:solidFill>
            <a:srgbClr val="D97A32"/>
          </a:solidFill>
          <a:ln>
            <a:noFill/>
          </a:ln>
        </p:spPr>
      </p:sp>
      <p:sp>
        <p:nvSpPr>
          <p:cNvPr id="36" name="Line 36"/>
          <p:cNvSpPr/>
          <p:nvPr/>
        </p:nvSpPr>
        <p:spPr>
          <a:xfrm>
            <a:off x="3019425" y="3781425"/>
            <a:ext cx="495300" cy="9525"/>
          </a:xfrm>
          <a:custGeom>
            <a:avLst/>
            <a:gdLst/>
            <a:ahLst/>
            <a:cxnLst/>
            <a:rect l="l" t="t" r="r" b="b"/>
            <a:pathLst>
              <a:path w="495300" h="9525">
                <a:moveTo>
                  <a:pt x="0" y="0"/>
                </a:moveTo>
                <a:lnTo>
                  <a:pt x="495300" y="0"/>
                </a:lnTo>
              </a:path>
            </a:pathLst>
          </a:custGeom>
          <a:noFill/>
          <a:ln w="28575">
            <a:solidFill>
              <a:srgbClr val="D97A32"/>
            </a:solidFill>
          </a:ln>
        </p:spPr>
      </p:sp>
      <p:sp>
        <p:nvSpPr>
          <p:cNvPr id="37" name="Polygon 37"/>
          <p:cNvSpPr/>
          <p:nvPr/>
        </p:nvSpPr>
        <p:spPr>
          <a:xfrm>
            <a:off x="3400425" y="3724275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114300" y="57150"/>
                </a:moveTo>
                <a:lnTo>
                  <a:pt x="0" y="0"/>
                </a:lnTo>
                <a:lnTo>
                  <a:pt x="0" y="114300"/>
                </a:lnTo>
                <a:close/>
              </a:path>
            </a:pathLst>
          </a:custGeom>
          <a:solidFill>
            <a:srgbClr val="D97A32"/>
          </a:solidFill>
          <a:ln>
            <a:noFill/>
          </a:ln>
        </p:spPr>
      </p:sp>
      <p:sp>
        <p:nvSpPr>
          <p:cNvPr id="38" name="Line 38"/>
          <p:cNvSpPr/>
          <p:nvPr/>
        </p:nvSpPr>
        <p:spPr>
          <a:xfrm>
            <a:off x="4905375" y="3781425"/>
            <a:ext cx="495300" cy="9525"/>
          </a:xfrm>
          <a:custGeom>
            <a:avLst/>
            <a:gdLst/>
            <a:ahLst/>
            <a:cxnLst/>
            <a:rect l="l" t="t" r="r" b="b"/>
            <a:pathLst>
              <a:path w="495300" h="9525">
                <a:moveTo>
                  <a:pt x="0" y="0"/>
                </a:moveTo>
                <a:lnTo>
                  <a:pt x="495300" y="0"/>
                </a:lnTo>
              </a:path>
            </a:pathLst>
          </a:custGeom>
          <a:noFill/>
          <a:ln w="28575">
            <a:solidFill>
              <a:srgbClr val="D97A32"/>
            </a:solidFill>
          </a:ln>
        </p:spPr>
      </p:sp>
      <p:sp>
        <p:nvSpPr>
          <p:cNvPr id="39" name="Polygon 39"/>
          <p:cNvSpPr/>
          <p:nvPr/>
        </p:nvSpPr>
        <p:spPr>
          <a:xfrm>
            <a:off x="5286375" y="3724275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114300" y="57150"/>
                </a:moveTo>
                <a:lnTo>
                  <a:pt x="0" y="0"/>
                </a:lnTo>
                <a:lnTo>
                  <a:pt x="0" y="114300"/>
                </a:lnTo>
                <a:close/>
              </a:path>
            </a:pathLst>
          </a:custGeom>
          <a:solidFill>
            <a:srgbClr val="D97A32"/>
          </a:solidFill>
          <a:ln>
            <a:noFill/>
          </a:ln>
        </p:spPr>
      </p:sp>
      <p:sp>
        <p:nvSpPr>
          <p:cNvPr id="40" name="Rectangle 40"/>
          <p:cNvSpPr/>
          <p:nvPr/>
        </p:nvSpPr>
        <p:spPr>
          <a:xfrm>
            <a:off x="685800" y="4552950"/>
            <a:ext cx="5581650" cy="1219200"/>
          </a:xfrm>
          <a:prstGeom prst="rect">
            <a:avLst/>
          </a:prstGeom>
          <a:solidFill>
            <a:srgbClr val="FFFFFF"/>
          </a:solidFill>
          <a:ln w="9525">
            <a:solidFill>
              <a:srgbClr val="D7E3F1"/>
            </a:solidFill>
          </a:ln>
        </p:spPr>
      </p:sp>
      <p:sp>
        <p:nvSpPr>
          <p:cNvPr id="41" name="TextBox 41"/>
          <p:cNvSpPr txBox="1"/>
          <p:nvPr/>
        </p:nvSpPr>
        <p:spPr>
          <a:xfrm>
            <a:off x="933450" y="4714875"/>
            <a:ext cx="187833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1F4E79"/>
                </a:solidFill>
                <a:latin typeface="Arial"/>
                <a:ea typeface="Microsoft YaHei"/>
                <a:cs typeface="Arial"/>
              </a:rPr>
              <a:t>为什么要强调离线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936308" y="5043964"/>
            <a:ext cx="4473583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5B6572"/>
                </a:solidFill>
                <a:latin typeface="Arial"/>
                <a:ea typeface="Microsoft YaHei"/>
                <a:cs typeface="Arial"/>
              </a:rPr>
              <a:t>• 危险声音提醒必须具备及时性，不能依赖网络往返。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936308" y="5272564"/>
            <a:ext cx="5032224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5B6572"/>
                </a:solidFill>
                <a:latin typeface="Arial"/>
                <a:ea typeface="Microsoft YaHei"/>
                <a:cs typeface="Arial"/>
              </a:rPr>
              <a:t>• 无网或弱网环境下，手表仍需保留最基本的安全感知能力。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936308" y="5501164"/>
            <a:ext cx="3914942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5B6572"/>
                </a:solidFill>
                <a:latin typeface="Arial"/>
                <a:ea typeface="Microsoft YaHei"/>
                <a:cs typeface="Arial"/>
              </a:rPr>
              <a:t>• 端侧识别更符合可穿戴设备的独立运行需求。</a:t>
            </a:r>
          </a:p>
        </p:txBody>
      </p:sp>
      <p:sp>
        <p:nvSpPr>
          <p:cNvPr id="45" name="Rectangle 45"/>
          <p:cNvSpPr/>
          <p:nvPr/>
        </p:nvSpPr>
        <p:spPr>
          <a:xfrm>
            <a:off x="6858000" y="1381125"/>
            <a:ext cx="4953000" cy="4714875"/>
          </a:xfrm>
          <a:prstGeom prst="rect">
            <a:avLst/>
          </a:prstGeom>
          <a:solidFill>
            <a:srgbClr val="FFFFFF"/>
          </a:solidFill>
          <a:ln w="9525">
            <a:solidFill>
              <a:srgbClr val="C9D7E8"/>
            </a:solidFill>
          </a:ln>
        </p:spPr>
      </p:sp>
      <p:sp>
        <p:nvSpPr>
          <p:cNvPr id="46" name="TextBox 46"/>
          <p:cNvSpPr txBox="1"/>
          <p:nvPr/>
        </p:nvSpPr>
        <p:spPr>
          <a:xfrm>
            <a:off x="7139940" y="1577340"/>
            <a:ext cx="253003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4E79"/>
                </a:solidFill>
                <a:latin typeface="Arial"/>
                <a:ea typeface="Microsoft YaHei"/>
                <a:cs typeface="Arial"/>
              </a:rPr>
              <a:t>当前识别结果与验证</a:t>
            </a:r>
          </a:p>
        </p:txBody>
      </p:sp>
      <p:sp>
        <p:nvSpPr>
          <p:cNvPr id="47" name="Rectangle 47"/>
          <p:cNvSpPr/>
          <p:nvPr/>
        </p:nvSpPr>
        <p:spPr>
          <a:xfrm>
            <a:off x="7162800" y="2057400"/>
            <a:ext cx="1333500" cy="400050"/>
          </a:xfrm>
          <a:prstGeom prst="rect">
            <a:avLst/>
          </a:prstGeom>
          <a:solidFill>
            <a:srgbClr val="EAF1FB"/>
          </a:solidFill>
          <a:ln>
            <a:noFill/>
          </a:ln>
        </p:spPr>
      </p:sp>
      <p:sp>
        <p:nvSpPr>
          <p:cNvPr id="48" name="TextBox 48"/>
          <p:cNvSpPr txBox="1"/>
          <p:nvPr/>
        </p:nvSpPr>
        <p:spPr>
          <a:xfrm>
            <a:off x="7617833" y="2176939"/>
            <a:ext cx="423434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75" b="1" dirty="0">
                <a:solidFill>
                  <a:srgbClr val="1F4E79"/>
                </a:solidFill>
                <a:latin typeface="Arial"/>
                <a:ea typeface="Microsoft YaHei"/>
                <a:cs typeface="Arial"/>
              </a:rPr>
              <a:t>喇叭</a:t>
            </a:r>
          </a:p>
        </p:txBody>
      </p:sp>
      <p:sp>
        <p:nvSpPr>
          <p:cNvPr id="49" name="Rectangle 49"/>
          <p:cNvSpPr/>
          <p:nvPr/>
        </p:nvSpPr>
        <p:spPr>
          <a:xfrm>
            <a:off x="8667750" y="2057400"/>
            <a:ext cx="1333500" cy="400050"/>
          </a:xfrm>
          <a:prstGeom prst="rect">
            <a:avLst/>
          </a:prstGeom>
          <a:solidFill>
            <a:srgbClr val="EAF1FB"/>
          </a:solidFill>
          <a:ln>
            <a:noFill/>
          </a:ln>
        </p:spPr>
      </p:sp>
      <p:sp>
        <p:nvSpPr>
          <p:cNvPr id="50" name="TextBox 50"/>
          <p:cNvSpPr txBox="1"/>
          <p:nvPr/>
        </p:nvSpPr>
        <p:spPr>
          <a:xfrm>
            <a:off x="9122783" y="2176939"/>
            <a:ext cx="423434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75" b="1" dirty="0">
                <a:solidFill>
                  <a:srgbClr val="1F4E79"/>
                </a:solidFill>
                <a:latin typeface="Arial"/>
                <a:ea typeface="Microsoft YaHei"/>
                <a:cs typeface="Arial"/>
              </a:rPr>
              <a:t>警笛</a:t>
            </a:r>
          </a:p>
        </p:txBody>
      </p:sp>
      <p:sp>
        <p:nvSpPr>
          <p:cNvPr id="51" name="Rectangle 51"/>
          <p:cNvSpPr/>
          <p:nvPr/>
        </p:nvSpPr>
        <p:spPr>
          <a:xfrm>
            <a:off x="10172700" y="2057400"/>
            <a:ext cx="1333500" cy="400050"/>
          </a:xfrm>
          <a:prstGeom prst="rect">
            <a:avLst/>
          </a:prstGeom>
          <a:solidFill>
            <a:srgbClr val="FDEEDD"/>
          </a:solidFill>
          <a:ln>
            <a:noFill/>
          </a:ln>
        </p:spPr>
      </p:sp>
      <p:sp>
        <p:nvSpPr>
          <p:cNvPr id="52" name="TextBox 52"/>
          <p:cNvSpPr txBox="1"/>
          <p:nvPr/>
        </p:nvSpPr>
        <p:spPr>
          <a:xfrm>
            <a:off x="10529971" y="2176939"/>
            <a:ext cx="618958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75" b="1" dirty="0">
                <a:solidFill>
                  <a:srgbClr val="C44F2A"/>
                </a:solidFill>
                <a:latin typeface="Arial"/>
                <a:ea typeface="Microsoft YaHei"/>
                <a:cs typeface="Arial"/>
              </a:rPr>
              <a:t>背景音</a:t>
            </a:r>
          </a:p>
        </p:txBody>
      </p:sp>
      <p:sp>
        <p:nvSpPr>
          <p:cNvPr id="53" name="Rectangle 53"/>
          <p:cNvSpPr/>
          <p:nvPr/>
        </p:nvSpPr>
        <p:spPr>
          <a:xfrm>
            <a:off x="7162800" y="2762250"/>
            <a:ext cx="4343400" cy="1066800"/>
          </a:xfrm>
          <a:prstGeom prst="rect">
            <a:avLst/>
          </a:prstGeom>
          <a:solidFill>
            <a:srgbClr val="F8FBFF"/>
          </a:solidFill>
          <a:ln w="9525">
            <a:solidFill>
              <a:srgbClr val="D7E3F1"/>
            </a:solidFill>
          </a:ln>
        </p:spPr>
      </p:sp>
      <p:sp>
        <p:nvSpPr>
          <p:cNvPr id="54" name="TextBox 54"/>
          <p:cNvSpPr txBox="1"/>
          <p:nvPr/>
        </p:nvSpPr>
        <p:spPr>
          <a:xfrm>
            <a:off x="7449502" y="2932271"/>
            <a:ext cx="1347359" cy="289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5" b="1" dirty="0">
                <a:solidFill>
                  <a:srgbClr val="233142"/>
                </a:solidFill>
                <a:latin typeface="Arial"/>
                <a:ea typeface="Microsoft YaHei"/>
                <a:cs typeface="Arial"/>
              </a:rPr>
              <a:t>当前模型配置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7451408" y="3234214"/>
            <a:ext cx="1838658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5B6572"/>
                </a:solidFill>
                <a:latin typeface="Arial"/>
                <a:ea typeface="Microsoft YaHei"/>
                <a:cs typeface="Arial"/>
              </a:rPr>
              <a:t>• 音频窗口长度：3 秒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7451408" y="3462814"/>
            <a:ext cx="1773484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5B6572"/>
                </a:solidFill>
                <a:latin typeface="Arial"/>
                <a:ea typeface="Microsoft YaHei"/>
                <a:cs typeface="Arial"/>
              </a:rPr>
              <a:t>• 推理采样率：16kHz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7451408" y="3691414"/>
            <a:ext cx="3542514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5B6572"/>
                </a:solidFill>
                <a:latin typeface="Arial"/>
                <a:ea typeface="Microsoft YaHei"/>
                <a:cs typeface="Arial"/>
              </a:rPr>
              <a:t>• 推理结果通过服务层映射为统一危险状态</a:t>
            </a:r>
          </a:p>
        </p:txBody>
      </p:sp>
      <p:sp>
        <p:nvSpPr>
          <p:cNvPr id="58" name="Rectangle 58"/>
          <p:cNvSpPr/>
          <p:nvPr/>
        </p:nvSpPr>
        <p:spPr>
          <a:xfrm>
            <a:off x="7162800" y="4019550"/>
            <a:ext cx="4343400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</p:sp>
      <p:sp>
        <p:nvSpPr>
          <p:cNvPr id="59" name="TextBox 59"/>
          <p:cNvSpPr txBox="1"/>
          <p:nvPr/>
        </p:nvSpPr>
        <p:spPr>
          <a:xfrm>
            <a:off x="7449502" y="4189571"/>
            <a:ext cx="1784414" cy="289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5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真机级别验证表现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7451408" y="4491514"/>
            <a:ext cx="4315301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识别页面启动后，喇叭和警笛均可触发后处理告警，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7451408" y="4720114"/>
            <a:ext cx="3198019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系统同步切换红屏提示并播放提示音。</a:t>
            </a:r>
          </a:p>
        </p:txBody>
      </p:sp>
      <p:sp>
        <p:nvSpPr>
          <p:cNvPr id="62" name="Rectangle 62"/>
          <p:cNvSpPr/>
          <p:nvPr/>
        </p:nvSpPr>
        <p:spPr>
          <a:xfrm>
            <a:off x="7162800" y="5124450"/>
            <a:ext cx="4343400" cy="781050"/>
          </a:xfrm>
          <a:prstGeom prst="rect">
            <a:avLst/>
          </a:prstGeom>
          <a:solidFill>
            <a:srgbClr val="FFF8F2"/>
          </a:solidFill>
          <a:ln w="9525">
            <a:solidFill>
              <a:srgbClr val="F1C7A8"/>
            </a:solidFill>
          </a:ln>
        </p:spPr>
      </p:sp>
      <p:sp>
        <p:nvSpPr>
          <p:cNvPr id="63" name="TextBox 63"/>
          <p:cNvSpPr txBox="1"/>
          <p:nvPr/>
        </p:nvSpPr>
        <p:spPr>
          <a:xfrm>
            <a:off x="7449502" y="5275421"/>
            <a:ext cx="1347359" cy="289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5" b="1" dirty="0">
                <a:solidFill>
                  <a:srgbClr val="233142"/>
                </a:solidFill>
                <a:latin typeface="Arial"/>
                <a:ea typeface="Microsoft YaHei"/>
                <a:cs typeface="Arial"/>
              </a:rPr>
              <a:t>结题阶段结论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7452360" y="5509260"/>
            <a:ext cx="355320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B6572"/>
                </a:solidFill>
                <a:latin typeface="Arial"/>
                <a:ea typeface="Microsoft YaHei"/>
                <a:cs typeface="Arial"/>
              </a:rPr>
              <a:t>离线危险声音识别已经从“模型可运行”推进到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7452360" y="5718810"/>
            <a:ext cx="285216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B6572"/>
                </a:solidFill>
                <a:latin typeface="Arial"/>
                <a:ea typeface="Microsoft YaHei"/>
                <a:cs typeface="Arial"/>
              </a:rPr>
              <a:t>“可在手表中触发提醒闭环”的阶段。</a:t>
            </a:r>
          </a:p>
        </p:txBody>
      </p:sp>
      <p:sp>
        <p:nvSpPr>
          <p:cNvPr id="66" name="Line 66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AF1FB"/>
            </a:solidFill>
          </a:ln>
        </p:spPr>
      </p:sp>
      <p:sp>
        <p:nvSpPr>
          <p:cNvPr id="67" name="TextBox 67"/>
          <p:cNvSpPr txBox="1"/>
          <p:nvPr/>
        </p:nvSpPr>
        <p:spPr>
          <a:xfrm>
            <a:off x="369570" y="6522720"/>
            <a:ext cx="460371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D97A5"/>
                </a:solidFill>
                <a:latin typeface="Arial"/>
                <a:ea typeface="Microsoft YaHei"/>
                <a:cs typeface="Arial"/>
              </a:rPr>
              <a:t>数据来源：traffic_inference 组件、danger_detection_service、结题报告</a:t>
            </a:r>
          </a:p>
        </p:txBody>
      </p:sp>
      <p:sp>
        <p:nvSpPr>
          <p:cNvPr id="68" name="TextBox 68"/>
          <p:cNvSpPr txBox="1"/>
          <p:nvPr/>
        </p:nvSpPr>
        <p:spPr>
          <a:xfrm>
            <a:off x="5821680" y="6522720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8D97A5"/>
                </a:solidFill>
                <a:latin typeface="Arial"/>
                <a:ea typeface="Microsoft YaHei"/>
                <a:cs typeface="Arial"/>
              </a:rPr>
              <a:t>核心亮点</a:t>
            </a:r>
          </a:p>
        </p:txBody>
      </p:sp>
      <p:sp>
        <p:nvSpPr>
          <p:cNvPr id="69" name="TextBox 69"/>
          <p:cNvSpPr txBox="1"/>
          <p:nvPr/>
        </p:nvSpPr>
        <p:spPr>
          <a:xfrm>
            <a:off x="11438477" y="6506528"/>
            <a:ext cx="19535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5B6572"/>
                </a:solidFill>
                <a:latin typeface="Arial"/>
                <a:ea typeface="Microsoft YaHei"/>
                <a:cs typeface="Arial"/>
              </a:rPr>
              <a:t>05</a:t>
            </a:r>
          </a:p>
        </p:txBody>
      </p:sp>
    </p:spTree>
  </p:cSld>
  <p:clrMapOvr>
    <a:masterClrMapping/>
  </p:clrMapOvr>
  <p:transition 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1F4E79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D97A32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54330" y="211455"/>
            <a:ext cx="4046639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05 系统实现与关键模块联动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947148" y="292418"/>
            <a:ext cx="169049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广州城市理工学院</a:t>
            </a:r>
          </a:p>
        </p:txBody>
      </p:sp>
      <p:sp>
        <p:nvSpPr>
          <p:cNvPr id="7" name="Rectangle 7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AF1FB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5B8FD9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363855" y="825818"/>
            <a:ext cx="734920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233142"/>
                </a:solidFill>
                <a:latin typeface="Arial"/>
                <a:ea typeface="Microsoft YaHei"/>
                <a:cs typeface="Arial"/>
              </a:rPr>
              <a:t>系统从启动到底层任务协同，已形成“界面先可用，服务后台持续接入”的运行闭环。</a:t>
            </a:r>
          </a:p>
        </p:txBody>
      </p:sp>
      <p:sp>
        <p:nvSpPr>
          <p:cNvPr id="10" name="Rectangle 10"/>
          <p:cNvSpPr/>
          <p:nvPr/>
        </p:nvSpPr>
        <p:spPr>
          <a:xfrm>
            <a:off x="381000" y="1381125"/>
            <a:ext cx="11430000" cy="1733550"/>
          </a:xfrm>
          <a:prstGeom prst="rect">
            <a:avLst/>
          </a:prstGeom>
          <a:solidFill>
            <a:srgbClr val="F8FBFF"/>
          </a:solidFill>
          <a:ln w="9525">
            <a:solidFill>
              <a:srgbClr val="C9D7E8"/>
            </a:solidFill>
          </a:ln>
        </p:spPr>
      </p:sp>
      <p:sp>
        <p:nvSpPr>
          <p:cNvPr id="11" name="TextBox 11"/>
          <p:cNvSpPr txBox="1"/>
          <p:nvPr/>
        </p:nvSpPr>
        <p:spPr>
          <a:xfrm>
            <a:off x="662940" y="1577340"/>
            <a:ext cx="1977962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4E79"/>
                </a:solidFill>
                <a:latin typeface="Arial"/>
                <a:ea typeface="Microsoft YaHei"/>
                <a:cs typeface="Arial"/>
              </a:rPr>
              <a:t>启动与联动时序</a:t>
            </a:r>
          </a:p>
        </p:txBody>
      </p:sp>
      <p:sp>
        <p:nvSpPr>
          <p:cNvPr id="12" name="Rectangle 12"/>
          <p:cNvSpPr/>
          <p:nvPr/>
        </p:nvSpPr>
        <p:spPr>
          <a:xfrm>
            <a:off x="723900" y="2171700"/>
            <a:ext cx="1714500" cy="647700"/>
          </a:xfrm>
          <a:prstGeom prst="rect">
            <a:avLst/>
          </a:prstGeom>
          <a:solidFill>
            <a:srgbClr val="1F4E79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774252" y="2295525"/>
            <a:ext cx="1613797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hardware_init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01052" y="2572702"/>
            <a:ext cx="156019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硬件与基础资源初始化</a:t>
            </a:r>
          </a:p>
        </p:txBody>
      </p:sp>
      <p:sp>
        <p:nvSpPr>
          <p:cNvPr id="15" name="Rectangle 15"/>
          <p:cNvSpPr/>
          <p:nvPr/>
        </p:nvSpPr>
        <p:spPr>
          <a:xfrm>
            <a:off x="2876550" y="2171700"/>
            <a:ext cx="1714500" cy="647700"/>
          </a:xfrm>
          <a:prstGeom prst="rect">
            <a:avLst/>
          </a:prstGeom>
          <a:solidFill>
            <a:srgbClr val="FFFFFF"/>
          </a:solidFill>
          <a:ln w="19050">
            <a:solidFill>
              <a:srgbClr val="5B8FD9"/>
            </a:solidFill>
          </a:ln>
        </p:spPr>
      </p:sp>
      <p:sp>
        <p:nvSpPr>
          <p:cNvPr id="16" name="TextBox 16"/>
          <p:cNvSpPr txBox="1"/>
          <p:nvPr/>
        </p:nvSpPr>
        <p:spPr>
          <a:xfrm>
            <a:off x="3202936" y="2295525"/>
            <a:ext cx="1061728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233142"/>
                </a:solidFill>
                <a:latin typeface="Arial"/>
                <a:ea typeface="Microsoft YaHei"/>
                <a:cs typeface="Arial"/>
              </a:rPr>
              <a:t>lvgl_task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2995874" y="2572702"/>
            <a:ext cx="147585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5B6572"/>
                </a:solidFill>
                <a:latin typeface="Arial"/>
                <a:ea typeface="Microsoft YaHei"/>
                <a:cs typeface="Arial"/>
              </a:rPr>
              <a:t>页面创建与 UI 主循环</a:t>
            </a:r>
          </a:p>
        </p:txBody>
      </p:sp>
      <p:sp>
        <p:nvSpPr>
          <p:cNvPr id="18" name="Rectangle 18"/>
          <p:cNvSpPr/>
          <p:nvPr/>
        </p:nvSpPr>
        <p:spPr>
          <a:xfrm>
            <a:off x="5029200" y="2171700"/>
            <a:ext cx="1714500" cy="647700"/>
          </a:xfrm>
          <a:prstGeom prst="rect">
            <a:avLst/>
          </a:prstGeom>
          <a:solidFill>
            <a:srgbClr val="FFFFFF"/>
          </a:solidFill>
          <a:ln w="19050">
            <a:solidFill>
              <a:srgbClr val="5B8FD9"/>
            </a:solidFill>
          </a:ln>
        </p:spPr>
      </p:sp>
      <p:sp>
        <p:nvSpPr>
          <p:cNvPr id="19" name="TextBox 19"/>
          <p:cNvSpPr txBox="1"/>
          <p:nvPr/>
        </p:nvSpPr>
        <p:spPr>
          <a:xfrm>
            <a:off x="4924282" y="2295525"/>
            <a:ext cx="1924336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233142"/>
                </a:solidFill>
                <a:latin typeface="Arial"/>
                <a:ea typeface="Microsoft YaHei"/>
                <a:cs typeface="Arial"/>
              </a:rPr>
              <a:t>network_service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5183029" y="2572702"/>
            <a:ext cx="140684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5B6572"/>
                </a:solidFill>
                <a:latin typeface="Arial"/>
                <a:ea typeface="Microsoft YaHei"/>
                <a:cs typeface="Arial"/>
              </a:rPr>
              <a:t>联网与服务就绪探测</a:t>
            </a:r>
          </a:p>
        </p:txBody>
      </p:sp>
      <p:sp>
        <p:nvSpPr>
          <p:cNvPr id="21" name="Rectangle 21"/>
          <p:cNvSpPr/>
          <p:nvPr/>
        </p:nvSpPr>
        <p:spPr>
          <a:xfrm>
            <a:off x="7181850" y="2171700"/>
            <a:ext cx="1714500" cy="647700"/>
          </a:xfrm>
          <a:prstGeom prst="rect">
            <a:avLst/>
          </a:prstGeom>
          <a:solidFill>
            <a:srgbClr val="FFFFFF"/>
          </a:solidFill>
          <a:ln w="19050">
            <a:solidFill>
              <a:srgbClr val="D97A32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7036677" y="2295525"/>
            <a:ext cx="2004846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233142"/>
                </a:solidFill>
                <a:latin typeface="Arial"/>
                <a:ea typeface="Microsoft YaHei"/>
                <a:cs typeface="Arial"/>
              </a:rPr>
              <a:t>danger_detection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7412355" y="2572702"/>
            <a:ext cx="125349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5B6572"/>
                </a:solidFill>
                <a:latin typeface="Arial"/>
                <a:ea typeface="Microsoft YaHei"/>
                <a:cs typeface="Arial"/>
              </a:rPr>
              <a:t>危险检测后台任务</a:t>
            </a:r>
          </a:p>
        </p:txBody>
      </p:sp>
      <p:sp>
        <p:nvSpPr>
          <p:cNvPr id="24" name="Rectangle 24"/>
          <p:cNvSpPr/>
          <p:nvPr/>
        </p:nvSpPr>
        <p:spPr>
          <a:xfrm>
            <a:off x="9334500" y="2171700"/>
            <a:ext cx="2095500" cy="647700"/>
          </a:xfrm>
          <a:prstGeom prst="rect">
            <a:avLst/>
          </a:prstGeom>
          <a:solidFill>
            <a:srgbClr val="FFFFFF"/>
          </a:solidFill>
          <a:ln w="19050">
            <a:solidFill>
              <a:srgbClr val="D97A32"/>
            </a:solidFill>
          </a:ln>
        </p:spPr>
      </p:sp>
      <p:sp>
        <p:nvSpPr>
          <p:cNvPr id="25" name="TextBox 25"/>
          <p:cNvSpPr txBox="1"/>
          <p:nvPr/>
        </p:nvSpPr>
        <p:spPr>
          <a:xfrm>
            <a:off x="9149798" y="2295525"/>
            <a:ext cx="2464903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233142"/>
                </a:solidFill>
                <a:latin typeface="Arial"/>
                <a:ea typeface="Microsoft YaHei"/>
                <a:cs typeface="Arial"/>
              </a:rPr>
              <a:t>official_chat_service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9667327" y="2572702"/>
            <a:ext cx="142984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5B6572"/>
                </a:solidFill>
                <a:latin typeface="Arial"/>
                <a:ea typeface="Microsoft YaHei"/>
                <a:cs typeface="Arial"/>
              </a:rPr>
              <a:t>AI 对话生命周期管理</a:t>
            </a:r>
          </a:p>
        </p:txBody>
      </p:sp>
      <p:sp>
        <p:nvSpPr>
          <p:cNvPr id="27" name="Line 27"/>
          <p:cNvSpPr/>
          <p:nvPr/>
        </p:nvSpPr>
        <p:spPr>
          <a:xfrm>
            <a:off x="2438400" y="2495550"/>
            <a:ext cx="438150" cy="9525"/>
          </a:xfrm>
          <a:custGeom>
            <a:avLst/>
            <a:gdLst/>
            <a:ahLst/>
            <a:cxnLst/>
            <a:rect l="l" t="t" r="r" b="b"/>
            <a:pathLst>
              <a:path w="438150" h="9525">
                <a:moveTo>
                  <a:pt x="0" y="0"/>
                </a:moveTo>
                <a:lnTo>
                  <a:pt x="438150" y="0"/>
                </a:lnTo>
              </a:path>
            </a:pathLst>
          </a:custGeom>
          <a:noFill/>
          <a:ln w="28575">
            <a:solidFill>
              <a:srgbClr val="5B8FD9"/>
            </a:solidFill>
          </a:ln>
        </p:spPr>
      </p:sp>
      <p:sp>
        <p:nvSpPr>
          <p:cNvPr id="28" name="Polygon 28"/>
          <p:cNvSpPr/>
          <p:nvPr/>
        </p:nvSpPr>
        <p:spPr>
          <a:xfrm>
            <a:off x="2762250" y="2438400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114300" y="57150"/>
                </a:moveTo>
                <a:lnTo>
                  <a:pt x="0" y="0"/>
                </a:lnTo>
                <a:lnTo>
                  <a:pt x="0" y="114300"/>
                </a:lnTo>
                <a:close/>
              </a:path>
            </a:pathLst>
          </a:custGeom>
          <a:solidFill>
            <a:srgbClr val="5B8FD9"/>
          </a:solidFill>
          <a:ln>
            <a:noFill/>
          </a:ln>
        </p:spPr>
      </p:sp>
      <p:sp>
        <p:nvSpPr>
          <p:cNvPr id="29" name="Line 29"/>
          <p:cNvSpPr/>
          <p:nvPr/>
        </p:nvSpPr>
        <p:spPr>
          <a:xfrm>
            <a:off x="4591050" y="2495550"/>
            <a:ext cx="438150" cy="9525"/>
          </a:xfrm>
          <a:custGeom>
            <a:avLst/>
            <a:gdLst/>
            <a:ahLst/>
            <a:cxnLst/>
            <a:rect l="l" t="t" r="r" b="b"/>
            <a:pathLst>
              <a:path w="438150" h="9525">
                <a:moveTo>
                  <a:pt x="0" y="0"/>
                </a:moveTo>
                <a:lnTo>
                  <a:pt x="438150" y="0"/>
                </a:lnTo>
              </a:path>
            </a:pathLst>
          </a:custGeom>
          <a:noFill/>
          <a:ln w="28575">
            <a:solidFill>
              <a:srgbClr val="5B8FD9"/>
            </a:solidFill>
          </a:ln>
        </p:spPr>
      </p:sp>
      <p:sp>
        <p:nvSpPr>
          <p:cNvPr id="30" name="Polygon 30"/>
          <p:cNvSpPr/>
          <p:nvPr/>
        </p:nvSpPr>
        <p:spPr>
          <a:xfrm>
            <a:off x="4914900" y="2438400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114300" y="57150"/>
                </a:moveTo>
                <a:lnTo>
                  <a:pt x="0" y="0"/>
                </a:lnTo>
                <a:lnTo>
                  <a:pt x="0" y="114300"/>
                </a:lnTo>
                <a:close/>
              </a:path>
            </a:pathLst>
          </a:custGeom>
          <a:solidFill>
            <a:srgbClr val="5B8FD9"/>
          </a:solidFill>
          <a:ln>
            <a:noFill/>
          </a:ln>
        </p:spPr>
      </p:sp>
      <p:sp>
        <p:nvSpPr>
          <p:cNvPr id="31" name="Line 31"/>
          <p:cNvSpPr/>
          <p:nvPr/>
        </p:nvSpPr>
        <p:spPr>
          <a:xfrm>
            <a:off x="6743700" y="2495550"/>
            <a:ext cx="438150" cy="9525"/>
          </a:xfrm>
          <a:custGeom>
            <a:avLst/>
            <a:gdLst/>
            <a:ahLst/>
            <a:cxnLst/>
            <a:rect l="l" t="t" r="r" b="b"/>
            <a:pathLst>
              <a:path w="438150" h="9525">
                <a:moveTo>
                  <a:pt x="0" y="0"/>
                </a:moveTo>
                <a:lnTo>
                  <a:pt x="438150" y="0"/>
                </a:lnTo>
              </a:path>
            </a:pathLst>
          </a:custGeom>
          <a:noFill/>
          <a:ln w="28575">
            <a:solidFill>
              <a:srgbClr val="D97A32"/>
            </a:solidFill>
          </a:ln>
        </p:spPr>
      </p:sp>
      <p:sp>
        <p:nvSpPr>
          <p:cNvPr id="32" name="Polygon 32"/>
          <p:cNvSpPr/>
          <p:nvPr/>
        </p:nvSpPr>
        <p:spPr>
          <a:xfrm>
            <a:off x="7067550" y="2438400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114300" y="57150"/>
                </a:moveTo>
                <a:lnTo>
                  <a:pt x="0" y="0"/>
                </a:lnTo>
                <a:lnTo>
                  <a:pt x="0" y="114300"/>
                </a:lnTo>
                <a:close/>
              </a:path>
            </a:pathLst>
          </a:custGeom>
          <a:solidFill>
            <a:srgbClr val="D97A32"/>
          </a:solidFill>
          <a:ln>
            <a:noFill/>
          </a:ln>
        </p:spPr>
      </p:sp>
      <p:sp>
        <p:nvSpPr>
          <p:cNvPr id="33" name="Line 33"/>
          <p:cNvSpPr/>
          <p:nvPr/>
        </p:nvSpPr>
        <p:spPr>
          <a:xfrm>
            <a:off x="8896350" y="2495550"/>
            <a:ext cx="438150" cy="9525"/>
          </a:xfrm>
          <a:custGeom>
            <a:avLst/>
            <a:gdLst/>
            <a:ahLst/>
            <a:cxnLst/>
            <a:rect l="l" t="t" r="r" b="b"/>
            <a:pathLst>
              <a:path w="438150" h="9525">
                <a:moveTo>
                  <a:pt x="0" y="0"/>
                </a:moveTo>
                <a:lnTo>
                  <a:pt x="438150" y="0"/>
                </a:lnTo>
              </a:path>
            </a:pathLst>
          </a:custGeom>
          <a:noFill/>
          <a:ln w="28575">
            <a:solidFill>
              <a:srgbClr val="D97A32"/>
            </a:solidFill>
          </a:ln>
        </p:spPr>
      </p:sp>
      <p:sp>
        <p:nvSpPr>
          <p:cNvPr id="34" name="Polygon 34"/>
          <p:cNvSpPr/>
          <p:nvPr/>
        </p:nvSpPr>
        <p:spPr>
          <a:xfrm>
            <a:off x="9220200" y="2438400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114300" y="57150"/>
                </a:moveTo>
                <a:lnTo>
                  <a:pt x="0" y="0"/>
                </a:lnTo>
                <a:lnTo>
                  <a:pt x="0" y="114300"/>
                </a:lnTo>
                <a:close/>
              </a:path>
            </a:pathLst>
          </a:custGeom>
          <a:solidFill>
            <a:srgbClr val="D97A32"/>
          </a:solidFill>
          <a:ln>
            <a:noFill/>
          </a:ln>
        </p:spPr>
      </p:sp>
      <p:sp>
        <p:nvSpPr>
          <p:cNvPr id="35" name="Rectangle 35"/>
          <p:cNvSpPr/>
          <p:nvPr/>
        </p:nvSpPr>
        <p:spPr>
          <a:xfrm>
            <a:off x="685800" y="3238500"/>
            <a:ext cx="10820400" cy="647700"/>
          </a:xfrm>
          <a:prstGeom prst="rect">
            <a:avLst/>
          </a:prstGeom>
          <a:solidFill>
            <a:srgbClr val="EAF1FB"/>
          </a:solidFill>
          <a:ln>
            <a:noFill/>
          </a:ln>
        </p:spPr>
      </p:sp>
      <p:sp>
        <p:nvSpPr>
          <p:cNvPr id="36" name="TextBox 36"/>
          <p:cNvSpPr txBox="1"/>
          <p:nvPr/>
        </p:nvSpPr>
        <p:spPr>
          <a:xfrm>
            <a:off x="2440375" y="3378518"/>
            <a:ext cx="731125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1F4E79"/>
                </a:solidFill>
                <a:latin typeface="Arial"/>
                <a:ea typeface="Microsoft YaHei"/>
                <a:cs typeface="Arial"/>
              </a:rPr>
              <a:t>UI 主线程只负责页面刷新与状态显示，后台任务负责联网、推理和会话状态推进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3539490" y="3642360"/>
            <a:ext cx="511302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B6572"/>
                </a:solidFill>
                <a:latin typeface="Arial"/>
                <a:ea typeface="Microsoft YaHei"/>
                <a:cs typeface="Arial"/>
              </a:rPr>
              <a:t>这样可以降低线程竞争与界面异常风险，适合资源受限的手表平台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358140" y="4110990"/>
            <a:ext cx="253003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4E79"/>
                </a:solidFill>
                <a:latin typeface="Arial"/>
                <a:ea typeface="Microsoft YaHei"/>
                <a:cs typeface="Arial"/>
              </a:rPr>
              <a:t>模块职责与联动结果</a:t>
            </a:r>
          </a:p>
        </p:txBody>
      </p:sp>
      <p:sp>
        <p:nvSpPr>
          <p:cNvPr id="39" name="Rectangle 39"/>
          <p:cNvSpPr/>
          <p:nvPr/>
        </p:nvSpPr>
        <p:spPr>
          <a:xfrm>
            <a:off x="381000" y="4514850"/>
            <a:ext cx="3581400" cy="1428750"/>
          </a:xfrm>
          <a:prstGeom prst="rect">
            <a:avLst/>
          </a:prstGeom>
          <a:solidFill>
            <a:srgbClr val="FFFFFF"/>
          </a:solidFill>
          <a:ln w="9525">
            <a:solidFill>
              <a:srgbClr val="C9D7E8"/>
            </a:solidFill>
          </a:ln>
        </p:spPr>
      </p:sp>
      <p:sp>
        <p:nvSpPr>
          <p:cNvPr id="40" name="TextBox 40"/>
          <p:cNvSpPr txBox="1"/>
          <p:nvPr/>
        </p:nvSpPr>
        <p:spPr>
          <a:xfrm>
            <a:off x="627698" y="4687729"/>
            <a:ext cx="1730716" cy="320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75" b="1" dirty="0">
                <a:solidFill>
                  <a:srgbClr val="233142"/>
                </a:solidFill>
                <a:latin typeface="Arial"/>
                <a:ea typeface="Microsoft YaHei"/>
                <a:cs typeface="Arial"/>
              </a:rPr>
              <a:t>显示与状态更新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631508" y="5024914"/>
            <a:ext cx="3291126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5B6572"/>
                </a:solidFill>
                <a:latin typeface="Arial"/>
                <a:ea typeface="Microsoft YaHei"/>
                <a:cs typeface="Arial"/>
              </a:rPr>
              <a:t>• `lvgl_task` 统一管理 LVGL 对象刷新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631508" y="5253514"/>
            <a:ext cx="3542514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5B6572"/>
                </a:solidFill>
                <a:latin typeface="Arial"/>
                <a:ea typeface="Microsoft YaHei"/>
                <a:cs typeface="Arial"/>
              </a:rPr>
              <a:t>• 后台结果通过状态映射更新页面与覆盖层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631508" y="5482114"/>
            <a:ext cx="2797659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5B6572"/>
                </a:solidFill>
                <a:latin typeface="Arial"/>
                <a:ea typeface="Microsoft YaHei"/>
                <a:cs typeface="Arial"/>
              </a:rPr>
              <a:t>• 危险触发时切换红屏与提示控件</a:t>
            </a:r>
          </a:p>
        </p:txBody>
      </p:sp>
      <p:sp>
        <p:nvSpPr>
          <p:cNvPr id="44" name="Rectangle 44"/>
          <p:cNvSpPr/>
          <p:nvPr/>
        </p:nvSpPr>
        <p:spPr>
          <a:xfrm>
            <a:off x="4305300" y="4514850"/>
            <a:ext cx="3581400" cy="1428750"/>
          </a:xfrm>
          <a:prstGeom prst="rect">
            <a:avLst/>
          </a:prstGeom>
          <a:solidFill>
            <a:srgbClr val="FFFFFF"/>
          </a:solidFill>
          <a:ln w="9525">
            <a:solidFill>
              <a:srgbClr val="C9D7E8"/>
            </a:solidFill>
          </a:ln>
        </p:spPr>
      </p:sp>
      <p:sp>
        <p:nvSpPr>
          <p:cNvPr id="45" name="TextBox 45"/>
          <p:cNvSpPr txBox="1"/>
          <p:nvPr/>
        </p:nvSpPr>
        <p:spPr>
          <a:xfrm>
            <a:off x="4551998" y="4687729"/>
            <a:ext cx="2080935" cy="320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75" b="1" dirty="0">
                <a:solidFill>
                  <a:srgbClr val="233142"/>
                </a:solidFill>
                <a:latin typeface="Arial"/>
                <a:ea typeface="Microsoft YaHei"/>
                <a:cs typeface="Arial"/>
              </a:rPr>
              <a:t>联网与 AI 页面联动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4555808" y="5024914"/>
            <a:ext cx="3710107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5B6572"/>
                </a:solidFill>
                <a:latin typeface="Arial"/>
                <a:ea typeface="Microsoft YaHei"/>
                <a:cs typeface="Arial"/>
              </a:rPr>
              <a:t>• 页面读取 `network_service` 的联网状态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4555808" y="5253514"/>
            <a:ext cx="3067669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5B6572"/>
                </a:solidFill>
                <a:latin typeface="Arial"/>
                <a:ea typeface="Microsoft YaHei"/>
                <a:cs typeface="Arial"/>
              </a:rPr>
              <a:t>• 服务就绪后才允许进入 AI 对话前台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4555808" y="5482114"/>
            <a:ext cx="3542514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5B6572"/>
                </a:solidFill>
                <a:latin typeface="Arial"/>
                <a:ea typeface="Microsoft YaHei"/>
                <a:cs typeface="Arial"/>
              </a:rPr>
              <a:t>• 页面退出时显式停机会话，减少崩溃风险</a:t>
            </a:r>
          </a:p>
        </p:txBody>
      </p:sp>
      <p:sp>
        <p:nvSpPr>
          <p:cNvPr id="49" name="Rectangle 49"/>
          <p:cNvSpPr/>
          <p:nvPr/>
        </p:nvSpPr>
        <p:spPr>
          <a:xfrm>
            <a:off x="8229600" y="4514850"/>
            <a:ext cx="3581400" cy="1428750"/>
          </a:xfrm>
          <a:prstGeom prst="rect">
            <a:avLst/>
          </a:prstGeom>
          <a:solidFill>
            <a:srgbClr val="FFF8F2"/>
          </a:solidFill>
          <a:ln w="9525">
            <a:solidFill>
              <a:srgbClr val="F1C7A8"/>
            </a:solidFill>
          </a:ln>
        </p:spPr>
      </p:sp>
      <p:sp>
        <p:nvSpPr>
          <p:cNvPr id="50" name="TextBox 50"/>
          <p:cNvSpPr txBox="1"/>
          <p:nvPr/>
        </p:nvSpPr>
        <p:spPr>
          <a:xfrm>
            <a:off x="8476298" y="4687729"/>
            <a:ext cx="1489186" cy="320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75" b="1" dirty="0">
                <a:solidFill>
                  <a:srgbClr val="233142"/>
                </a:solidFill>
                <a:latin typeface="Arial"/>
                <a:ea typeface="Microsoft YaHei"/>
                <a:cs typeface="Arial"/>
              </a:rPr>
              <a:t>危险提示闭环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8480108" y="5024914"/>
            <a:ext cx="2425232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5B6572"/>
                </a:solidFill>
                <a:latin typeface="Arial"/>
                <a:ea typeface="Microsoft YaHei"/>
                <a:cs typeface="Arial"/>
              </a:rPr>
              <a:t>• 识别任务输出统一危险状态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8480108" y="5253514"/>
            <a:ext cx="2983873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5B6572"/>
                </a:solidFill>
                <a:latin typeface="Arial"/>
                <a:ea typeface="Microsoft YaHei"/>
                <a:cs typeface="Arial"/>
              </a:rPr>
              <a:t>• 提示音、红屏与页面状态同步联动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8480108" y="5482114"/>
            <a:ext cx="3356300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5B6572"/>
                </a:solidFill>
                <a:latin typeface="Arial"/>
                <a:ea typeface="Microsoft YaHei"/>
                <a:cs typeface="Arial"/>
              </a:rPr>
              <a:t>• 退出页面后可回收资源并终止后台识别</a:t>
            </a:r>
          </a:p>
        </p:txBody>
      </p:sp>
      <p:sp>
        <p:nvSpPr>
          <p:cNvPr id="54" name="Line 54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AF1FB"/>
            </a:solidFill>
          </a:ln>
        </p:spPr>
      </p:sp>
      <p:sp>
        <p:nvSpPr>
          <p:cNvPr id="55" name="TextBox 55"/>
          <p:cNvSpPr txBox="1"/>
          <p:nvPr/>
        </p:nvSpPr>
        <p:spPr>
          <a:xfrm>
            <a:off x="369570" y="6522720"/>
            <a:ext cx="541867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D97A5"/>
                </a:solidFill>
                <a:latin typeface="Arial"/>
                <a:ea typeface="Microsoft YaHei"/>
                <a:cs typeface="Arial"/>
              </a:rPr>
              <a:t>数据来源：111.c、hardware_init.c、network_service.c、danger_detection_service.c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5821680" y="6522720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8D97A5"/>
                </a:solidFill>
                <a:latin typeface="Arial"/>
                <a:ea typeface="Microsoft YaHei"/>
                <a:cs typeface="Arial"/>
              </a:rPr>
              <a:t>模块联动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11438477" y="6506528"/>
            <a:ext cx="19535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5B6572"/>
                </a:solidFill>
                <a:latin typeface="Arial"/>
                <a:ea typeface="Microsoft YaHei"/>
                <a:cs typeface="Arial"/>
              </a:rPr>
              <a:t>06</a:t>
            </a:r>
          </a:p>
        </p:txBody>
      </p:sp>
    </p:spTree>
  </p:cSld>
  <p:clrMapOvr>
    <a:masterClrMapping/>
  </p:clrMapOvr>
  <p:transition 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1F4E79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D97A32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54330" y="211455"/>
            <a:ext cx="3402559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06 实物照片与界面展示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947148" y="292418"/>
            <a:ext cx="169049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广州城市理工学院</a:t>
            </a:r>
          </a:p>
        </p:txBody>
      </p:sp>
      <p:sp>
        <p:nvSpPr>
          <p:cNvPr id="7" name="Rectangle 7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AF1FB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5B8FD9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363855" y="825818"/>
            <a:ext cx="851249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233142"/>
                </a:solidFill>
                <a:latin typeface="Arial"/>
                <a:ea typeface="Microsoft YaHei"/>
                <a:cs typeface="Arial"/>
              </a:rPr>
              <a:t>当前答辩材料已能展示页面级交互效果；实物照片和结构视图可在后续补图后直接替换占位区域。</a:t>
            </a:r>
          </a:p>
        </p:txBody>
      </p:sp>
      <p:sp>
        <p:nvSpPr>
          <p:cNvPr id="10" name="Rectangle 10"/>
          <p:cNvSpPr/>
          <p:nvPr/>
        </p:nvSpPr>
        <p:spPr>
          <a:xfrm>
            <a:off x="381000" y="1381125"/>
            <a:ext cx="4762500" cy="4714875"/>
          </a:xfrm>
          <a:prstGeom prst="rect">
            <a:avLst/>
          </a:prstGeom>
          <a:solidFill>
            <a:srgbClr val="F8FBFF"/>
          </a:solidFill>
          <a:ln w="9525">
            <a:solidFill>
              <a:srgbClr val="C9D7E8"/>
            </a:solidFill>
          </a:ln>
        </p:spPr>
      </p:sp>
      <p:sp>
        <p:nvSpPr>
          <p:cNvPr id="11" name="TextBox 11"/>
          <p:cNvSpPr txBox="1"/>
          <p:nvPr/>
        </p:nvSpPr>
        <p:spPr>
          <a:xfrm>
            <a:off x="662940" y="1577340"/>
            <a:ext cx="284747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4E79"/>
                </a:solidFill>
                <a:latin typeface="Arial"/>
                <a:ea typeface="Microsoft YaHei"/>
                <a:cs typeface="Arial"/>
              </a:rPr>
              <a:t>实物 / 结构视图展示位</a:t>
            </a:r>
          </a:p>
        </p:txBody>
      </p:sp>
      <p:sp>
        <p:nvSpPr>
          <p:cNvPr id="12" name="Rectangle 12"/>
          <p:cNvSpPr/>
          <p:nvPr/>
        </p:nvSpPr>
        <p:spPr>
          <a:xfrm>
            <a:off x="685800" y="2076450"/>
            <a:ext cx="4152900" cy="1657350"/>
          </a:xfrm>
          <a:prstGeom prst="rect">
            <a:avLst/>
          </a:prstGeom>
          <a:solidFill>
            <a:srgbClr val="FFFFFF"/>
          </a:solidFill>
          <a:ln w="9525">
            <a:solidFill>
              <a:srgbClr val="C9D7E8"/>
            </a:solidFill>
            <a:prstDash val="dash"/>
          </a:ln>
        </p:spPr>
      </p:sp>
      <p:sp>
        <p:nvSpPr>
          <p:cNvPr id="13" name="TextBox 13"/>
          <p:cNvSpPr txBox="1"/>
          <p:nvPr/>
        </p:nvSpPr>
        <p:spPr>
          <a:xfrm>
            <a:off x="1911286" y="2606040"/>
            <a:ext cx="1701927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8D97A5"/>
                </a:solidFill>
                <a:latin typeface="Arial"/>
                <a:ea typeface="Microsoft YaHei"/>
                <a:cs typeface="Arial"/>
              </a:rPr>
              <a:t>实物照片占位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169670" y="2956560"/>
            <a:ext cx="318516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8D97A5"/>
                </a:solidFill>
                <a:latin typeface="Arial"/>
                <a:ea typeface="Microsoft YaHei"/>
                <a:cs typeface="Arial"/>
              </a:rPr>
              <a:t>可替换为手表整机、佩戴效果或桌面摆拍</a:t>
            </a:r>
          </a:p>
        </p:txBody>
      </p:sp>
      <p:sp>
        <p:nvSpPr>
          <p:cNvPr id="15" name="Rectangle 15"/>
          <p:cNvSpPr/>
          <p:nvPr/>
        </p:nvSpPr>
        <p:spPr>
          <a:xfrm>
            <a:off x="685800" y="3924300"/>
            <a:ext cx="4152900" cy="1657350"/>
          </a:xfrm>
          <a:prstGeom prst="rect">
            <a:avLst/>
          </a:prstGeom>
          <a:solidFill>
            <a:srgbClr val="FFFFFF"/>
          </a:solidFill>
          <a:ln w="9525">
            <a:solidFill>
              <a:srgbClr val="C9D7E8"/>
            </a:solidFill>
            <a:prstDash val="dash"/>
          </a:ln>
        </p:spPr>
      </p:sp>
      <p:sp>
        <p:nvSpPr>
          <p:cNvPr id="16" name="TextBox 16"/>
          <p:cNvSpPr txBox="1"/>
          <p:nvPr/>
        </p:nvSpPr>
        <p:spPr>
          <a:xfrm>
            <a:off x="1911286" y="4453890"/>
            <a:ext cx="1701927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8D97A5"/>
                </a:solidFill>
                <a:latin typeface="Arial"/>
                <a:ea typeface="Microsoft YaHei"/>
                <a:cs typeface="Arial"/>
              </a:rPr>
              <a:t>结构视图占位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94410" y="4804410"/>
            <a:ext cx="353568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8D97A5"/>
                </a:solidFill>
                <a:latin typeface="Arial"/>
                <a:ea typeface="Microsoft YaHei"/>
                <a:cs typeface="Arial"/>
              </a:rPr>
              <a:t>可替换为硬件结构、模块布局或系统结构示意</a:t>
            </a:r>
          </a:p>
        </p:txBody>
      </p:sp>
      <p:sp>
        <p:nvSpPr>
          <p:cNvPr id="18" name="Rectangle 18"/>
          <p:cNvSpPr/>
          <p:nvPr/>
        </p:nvSpPr>
        <p:spPr>
          <a:xfrm>
            <a:off x="5429250" y="1381125"/>
            <a:ext cx="6381750" cy="4714875"/>
          </a:xfrm>
          <a:prstGeom prst="rect">
            <a:avLst/>
          </a:prstGeom>
          <a:solidFill>
            <a:srgbClr val="FFFFFF"/>
          </a:solidFill>
          <a:ln w="9525">
            <a:solidFill>
              <a:srgbClr val="C9D7E8"/>
            </a:solidFill>
          </a:ln>
        </p:spPr>
      </p:sp>
      <p:sp>
        <p:nvSpPr>
          <p:cNvPr id="19" name="TextBox 19"/>
          <p:cNvSpPr txBox="1"/>
          <p:nvPr/>
        </p:nvSpPr>
        <p:spPr>
          <a:xfrm>
            <a:off x="5711190" y="1577340"/>
            <a:ext cx="1701927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4E79"/>
                </a:solidFill>
                <a:latin typeface="Arial"/>
                <a:ea typeface="Microsoft YaHei"/>
                <a:cs typeface="Arial"/>
              </a:rPr>
              <a:t>当前界面证据</a:t>
            </a:r>
          </a:p>
        </p:txBody>
      </p:sp>
      <p:sp>
        <p:nvSpPr>
          <p:cNvPr id="20" name="Rectangle 20"/>
          <p:cNvSpPr/>
          <p:nvPr/>
        </p:nvSpPr>
        <p:spPr>
          <a:xfrm>
            <a:off x="5734050" y="2057400"/>
            <a:ext cx="2571750" cy="3352800"/>
          </a:xfrm>
          <a:prstGeom prst="rect">
            <a:avLst/>
          </a:prstGeom>
          <a:solidFill>
            <a:srgbClr val="F8FBFF"/>
          </a:solidFill>
          <a:ln w="9525">
            <a:solidFill>
              <a:srgbClr val="D7E3F1"/>
            </a:solidFill>
          </a:ln>
        </p:spPr>
      </p:sp>
      <p:pic>
        <p:nvPicPr>
          <p:cNvPr id="21" name="Image 2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8375" y="2247900"/>
            <a:ext cx="1943100" cy="2914650"/>
          </a:xfrm>
          <a:prstGeom prst="rect">
            <a:avLst/>
          </a:prstGeom>
        </p:spPr>
      </p:pic>
      <p:sp>
        <p:nvSpPr>
          <p:cNvPr id="22" name="Rectangle 22"/>
          <p:cNvSpPr/>
          <p:nvPr/>
        </p:nvSpPr>
        <p:spPr>
          <a:xfrm>
            <a:off x="5924550" y="2247900"/>
            <a:ext cx="2190750" cy="2914650"/>
          </a:xfrm>
          <a:prstGeom prst="rect">
            <a:avLst/>
          </a:prstGeom>
          <a:noFill/>
          <a:ln w="9525">
            <a:solidFill>
              <a:srgbClr val="C9D7E8"/>
            </a:solidFill>
          </a:ln>
        </p:spPr>
      </p:sp>
      <p:sp>
        <p:nvSpPr>
          <p:cNvPr id="23" name="TextBox 23"/>
          <p:cNvSpPr txBox="1"/>
          <p:nvPr/>
        </p:nvSpPr>
        <p:spPr>
          <a:xfrm>
            <a:off x="6485215" y="5474018"/>
            <a:ext cx="1069419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233142"/>
                </a:solidFill>
                <a:latin typeface="Arial"/>
                <a:ea typeface="Microsoft YaHei"/>
                <a:cs typeface="Arial"/>
              </a:rPr>
              <a:t>主界面展示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5609034" y="5726906"/>
            <a:ext cx="282178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5B6572"/>
                </a:solidFill>
                <a:latin typeface="Arial"/>
                <a:ea typeface="Microsoft YaHei"/>
                <a:cs typeface="Arial"/>
              </a:rPr>
              <a:t>入口清晰，适合作为多功能手表主页面</a:t>
            </a:r>
          </a:p>
        </p:txBody>
      </p:sp>
      <p:sp>
        <p:nvSpPr>
          <p:cNvPr id="25" name="Rectangle 25"/>
          <p:cNvSpPr/>
          <p:nvPr/>
        </p:nvSpPr>
        <p:spPr>
          <a:xfrm>
            <a:off x="8763000" y="2057400"/>
            <a:ext cx="2571750" cy="3352800"/>
          </a:xfrm>
          <a:prstGeom prst="rect">
            <a:avLst/>
          </a:prstGeom>
          <a:solidFill>
            <a:srgbClr val="F8FBFF"/>
          </a:solidFill>
          <a:ln w="9525">
            <a:solidFill>
              <a:srgbClr val="D7E3F1"/>
            </a:solidFill>
          </a:ln>
        </p:spPr>
      </p:sp>
      <p:pic>
        <p:nvPicPr>
          <p:cNvPr id="26" name="Image 2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77325" y="2247900"/>
            <a:ext cx="1943100" cy="2914650"/>
          </a:xfrm>
          <a:prstGeom prst="rect">
            <a:avLst/>
          </a:prstGeom>
        </p:spPr>
      </p:pic>
      <p:sp>
        <p:nvSpPr>
          <p:cNvPr id="27" name="Rectangle 27"/>
          <p:cNvSpPr/>
          <p:nvPr/>
        </p:nvSpPr>
        <p:spPr>
          <a:xfrm>
            <a:off x="8953500" y="2247900"/>
            <a:ext cx="2190750" cy="2914650"/>
          </a:xfrm>
          <a:prstGeom prst="rect">
            <a:avLst/>
          </a:prstGeom>
          <a:noFill/>
          <a:ln w="9525">
            <a:solidFill>
              <a:srgbClr val="C9D7E8"/>
            </a:solidFill>
          </a:ln>
        </p:spPr>
      </p:sp>
      <p:sp>
        <p:nvSpPr>
          <p:cNvPr id="28" name="TextBox 28"/>
          <p:cNvSpPr txBox="1"/>
          <p:nvPr/>
        </p:nvSpPr>
        <p:spPr>
          <a:xfrm>
            <a:off x="9498638" y="5474018"/>
            <a:ext cx="110047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233142"/>
                </a:solidFill>
                <a:latin typeface="Arial"/>
                <a:ea typeface="Microsoft YaHei"/>
                <a:cs typeface="Arial"/>
              </a:rPr>
              <a:t>AI 对话页面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8637984" y="5726906"/>
            <a:ext cx="282178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5B6572"/>
                </a:solidFill>
                <a:latin typeface="Arial"/>
                <a:ea typeface="Microsoft YaHei"/>
                <a:cs typeface="Arial"/>
              </a:rPr>
              <a:t>可显示联网状态、消息气泡与交互入口</a:t>
            </a:r>
          </a:p>
        </p:txBody>
      </p:sp>
      <p:sp>
        <p:nvSpPr>
          <p:cNvPr id="30" name="Line 30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AF1FB"/>
            </a:solidFill>
          </a:ln>
        </p:spPr>
      </p:sp>
      <p:sp>
        <p:nvSpPr>
          <p:cNvPr id="31" name="TextBox 31"/>
          <p:cNvSpPr txBox="1"/>
          <p:nvPr/>
        </p:nvSpPr>
        <p:spPr>
          <a:xfrm>
            <a:off x="369570" y="6522720"/>
            <a:ext cx="278320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D97A5"/>
                </a:solidFill>
                <a:latin typeface="Arial"/>
                <a:ea typeface="Microsoft YaHei"/>
                <a:cs typeface="Arial"/>
              </a:rPr>
              <a:t>数据来源：用户提供的界面截图与答辩素材目录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5821680" y="6522720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8D97A5"/>
                </a:solidFill>
                <a:latin typeface="Arial"/>
                <a:ea typeface="Microsoft YaHei"/>
                <a:cs typeface="Arial"/>
              </a:rPr>
              <a:t>效果展示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1438477" y="6506528"/>
            <a:ext cx="19535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5B6572"/>
                </a:solidFill>
                <a:latin typeface="Arial"/>
                <a:ea typeface="Microsoft YaHei"/>
                <a:cs typeface="Arial"/>
              </a:rPr>
              <a:t>07</a:t>
            </a:r>
          </a:p>
        </p:txBody>
      </p:sp>
    </p:spTree>
  </p:cSld>
  <p:clrMapOvr>
    <a:masterClrMapping/>
  </p:clrMapOvr>
  <p:transition 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1F4E79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D97A32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54330" y="211455"/>
            <a:ext cx="3080518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07 结题成果与创新点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947148" y="292418"/>
            <a:ext cx="169049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广州城市理工学院</a:t>
            </a:r>
          </a:p>
        </p:txBody>
      </p:sp>
      <p:sp>
        <p:nvSpPr>
          <p:cNvPr id="7" name="Rectangle 7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AF1FB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5B8FD9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363855" y="825818"/>
            <a:ext cx="654081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233142"/>
                </a:solidFill>
                <a:latin typeface="Arial"/>
                <a:ea typeface="Microsoft YaHei"/>
                <a:cs typeface="Arial"/>
              </a:rPr>
              <a:t>项目已完成阶段性原型建设，并形成面向助残场景的嵌入式系统创新组合。</a:t>
            </a:r>
          </a:p>
        </p:txBody>
      </p:sp>
      <p:sp>
        <p:nvSpPr>
          <p:cNvPr id="10" name="Rectangle 10"/>
          <p:cNvSpPr/>
          <p:nvPr/>
        </p:nvSpPr>
        <p:spPr>
          <a:xfrm>
            <a:off x="381000" y="1381125"/>
            <a:ext cx="3600450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665798" y="1563529"/>
            <a:ext cx="667983" cy="320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75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成果 1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69608" y="1881664"/>
            <a:ext cx="3198019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完成可运行手表原型与多页面交互底座</a:t>
            </a:r>
          </a:p>
        </p:txBody>
      </p:sp>
      <p:sp>
        <p:nvSpPr>
          <p:cNvPr id="13" name="Rectangle 13"/>
          <p:cNvSpPr/>
          <p:nvPr/>
        </p:nvSpPr>
        <p:spPr>
          <a:xfrm>
            <a:off x="4295775" y="1381125"/>
            <a:ext cx="3600450" cy="914400"/>
          </a:xfrm>
          <a:prstGeom prst="rect">
            <a:avLst/>
          </a:prstGeom>
          <a:solidFill>
            <a:srgbClr val="D97A32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4580572" y="1563529"/>
            <a:ext cx="728366" cy="320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75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成果 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4584382" y="1881664"/>
            <a:ext cx="3198019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完成离线危险声音识别与告警闭环验证</a:t>
            </a:r>
          </a:p>
        </p:txBody>
      </p:sp>
      <p:sp>
        <p:nvSpPr>
          <p:cNvPr id="16" name="Rectangle 16"/>
          <p:cNvSpPr/>
          <p:nvPr/>
        </p:nvSpPr>
        <p:spPr>
          <a:xfrm>
            <a:off x="8210550" y="1381125"/>
            <a:ext cx="3600450" cy="914400"/>
          </a:xfrm>
          <a:prstGeom prst="rect">
            <a:avLst/>
          </a:prstGeom>
          <a:solidFill>
            <a:srgbClr val="5B8FD9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8495348" y="1563529"/>
            <a:ext cx="728366" cy="320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75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成果 3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8499158" y="1881664"/>
            <a:ext cx="3095601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接入 AI 对话扩展链路并形成联网底座</a:t>
            </a:r>
          </a:p>
        </p:txBody>
      </p:sp>
      <p:sp>
        <p:nvSpPr>
          <p:cNvPr id="19" name="Rectangle 19"/>
          <p:cNvSpPr/>
          <p:nvPr/>
        </p:nvSpPr>
        <p:spPr>
          <a:xfrm>
            <a:off x="381000" y="2590800"/>
            <a:ext cx="3600450" cy="33528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7E8"/>
            </a:solidFill>
          </a:ln>
        </p:spPr>
      </p:sp>
      <p:sp>
        <p:nvSpPr>
          <p:cNvPr id="20" name="TextBox 20"/>
          <p:cNvSpPr txBox="1"/>
          <p:nvPr/>
        </p:nvSpPr>
        <p:spPr>
          <a:xfrm>
            <a:off x="662940" y="2796540"/>
            <a:ext cx="1149858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4E79"/>
                </a:solidFill>
                <a:latin typeface="Arial"/>
                <a:ea typeface="Microsoft YaHei"/>
                <a:cs typeface="Arial"/>
              </a:rPr>
              <a:t>阶段成果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668655" y="3207068"/>
            <a:ext cx="276506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5B6572"/>
                </a:solidFill>
                <a:latin typeface="Arial"/>
                <a:ea typeface="Microsoft YaHei"/>
                <a:cs typeface="Arial"/>
              </a:rPr>
              <a:t>• 已构建以 ESP32-S3 为核心的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668655" y="3454718"/>
            <a:ext cx="161163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5B6572"/>
                </a:solidFill>
                <a:latin typeface="Arial"/>
                <a:ea typeface="Microsoft YaHei"/>
                <a:cs typeface="Arial"/>
              </a:rPr>
              <a:t>可穿戴交互平台。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68655" y="3740468"/>
            <a:ext cx="346500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5B6572"/>
                </a:solidFill>
                <a:latin typeface="Arial"/>
                <a:ea typeface="Microsoft YaHei"/>
                <a:cs typeface="Arial"/>
              </a:rPr>
              <a:t>• 已打通显示、触摸、音频采集/播放、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668655" y="3988118"/>
            <a:ext cx="274534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5B6572"/>
                </a:solidFill>
                <a:latin typeface="Arial"/>
                <a:ea typeface="Microsoft YaHei"/>
                <a:cs typeface="Arial"/>
              </a:rPr>
              <a:t>Wi-Fi 配网与页面级状态反馈。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668655" y="4273868"/>
            <a:ext cx="296222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5B6572"/>
                </a:solidFill>
                <a:latin typeface="Arial"/>
                <a:ea typeface="Microsoft YaHei"/>
                <a:cs typeface="Arial"/>
              </a:rPr>
              <a:t>• 已形成可继续扩展的工程底座。</a:t>
            </a:r>
          </a:p>
        </p:txBody>
      </p:sp>
      <p:sp>
        <p:nvSpPr>
          <p:cNvPr id="26" name="Rectangle 26"/>
          <p:cNvSpPr/>
          <p:nvPr/>
        </p:nvSpPr>
        <p:spPr>
          <a:xfrm>
            <a:off x="685800" y="5353050"/>
            <a:ext cx="1314450" cy="304800"/>
          </a:xfrm>
          <a:prstGeom prst="rect">
            <a:avLst/>
          </a:prstGeom>
          <a:solidFill>
            <a:srgbClr val="EAF1FB"/>
          </a:solidFill>
          <a:ln>
            <a:noFill/>
          </a:ln>
        </p:spPr>
      </p:sp>
      <p:sp>
        <p:nvSpPr>
          <p:cNvPr id="27" name="TextBox 27"/>
          <p:cNvSpPr txBox="1"/>
          <p:nvPr/>
        </p:nvSpPr>
        <p:spPr>
          <a:xfrm>
            <a:off x="811173" y="5431631"/>
            <a:ext cx="106370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1F4E79"/>
                </a:solidFill>
                <a:latin typeface="Arial"/>
                <a:ea typeface="Microsoft YaHei"/>
                <a:cs typeface="Arial"/>
              </a:rPr>
              <a:t>原型验证成立</a:t>
            </a:r>
          </a:p>
        </p:txBody>
      </p:sp>
      <p:sp>
        <p:nvSpPr>
          <p:cNvPr id="28" name="Rectangle 28"/>
          <p:cNvSpPr/>
          <p:nvPr/>
        </p:nvSpPr>
        <p:spPr>
          <a:xfrm>
            <a:off x="4295775" y="2590800"/>
            <a:ext cx="3600450" cy="33528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7E8"/>
            </a:solidFill>
          </a:ln>
        </p:spPr>
      </p:sp>
      <p:sp>
        <p:nvSpPr>
          <p:cNvPr id="29" name="TextBox 29"/>
          <p:cNvSpPr txBox="1"/>
          <p:nvPr/>
        </p:nvSpPr>
        <p:spPr>
          <a:xfrm>
            <a:off x="4577715" y="2796540"/>
            <a:ext cx="873824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4E79"/>
                </a:solidFill>
                <a:latin typeface="Arial"/>
                <a:ea typeface="Microsoft YaHei"/>
                <a:cs typeface="Arial"/>
              </a:rPr>
              <a:t>创新点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4583430" y="3207068"/>
            <a:ext cx="265661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5B6572"/>
                </a:solidFill>
                <a:latin typeface="Arial"/>
                <a:ea typeface="Microsoft YaHei"/>
                <a:cs typeface="Arial"/>
              </a:rPr>
              <a:t>• 端侧 AI 与助残需求相结合，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4583430" y="3454718"/>
            <a:ext cx="240030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5B6572"/>
                </a:solidFill>
                <a:latin typeface="Arial"/>
                <a:ea typeface="Microsoft YaHei"/>
                <a:cs typeface="Arial"/>
              </a:rPr>
              <a:t>聚焦高价值危险声音识别。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4583430" y="3740468"/>
            <a:ext cx="315939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5B6572"/>
                </a:solidFill>
                <a:latin typeface="Arial"/>
                <a:ea typeface="Microsoft YaHei"/>
                <a:cs typeface="Arial"/>
              </a:rPr>
              <a:t>• 把识别结果转化为红屏与提示音，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4583430" y="3988118"/>
            <a:ext cx="220313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5B6572"/>
                </a:solidFill>
                <a:latin typeface="Arial"/>
                <a:ea typeface="Microsoft YaHei"/>
                <a:cs typeface="Arial"/>
              </a:rPr>
              <a:t>形成可感知的用户反馈。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4583430" y="4273868"/>
            <a:ext cx="375089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5B6572"/>
                </a:solidFill>
                <a:latin typeface="Arial"/>
                <a:ea typeface="Microsoft YaHei"/>
                <a:cs typeface="Arial"/>
              </a:rPr>
              <a:t>• 以模块化方式组织系统，便于后续扩展。</a:t>
            </a:r>
          </a:p>
        </p:txBody>
      </p:sp>
      <p:sp>
        <p:nvSpPr>
          <p:cNvPr id="35" name="Rectangle 35"/>
          <p:cNvSpPr/>
          <p:nvPr/>
        </p:nvSpPr>
        <p:spPr>
          <a:xfrm>
            <a:off x="4600575" y="5353050"/>
            <a:ext cx="1314450" cy="304800"/>
          </a:xfrm>
          <a:prstGeom prst="rect">
            <a:avLst/>
          </a:prstGeom>
          <a:solidFill>
            <a:srgbClr val="FDEEDD"/>
          </a:solidFill>
          <a:ln>
            <a:noFill/>
          </a:ln>
        </p:spPr>
      </p:sp>
      <p:sp>
        <p:nvSpPr>
          <p:cNvPr id="36" name="TextBox 36"/>
          <p:cNvSpPr txBox="1"/>
          <p:nvPr/>
        </p:nvSpPr>
        <p:spPr>
          <a:xfrm>
            <a:off x="4725948" y="5431631"/>
            <a:ext cx="106370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C44F2A"/>
                </a:solidFill>
                <a:latin typeface="Arial"/>
                <a:ea typeface="Microsoft YaHei"/>
                <a:cs typeface="Arial"/>
              </a:rPr>
              <a:t>工程创新组合</a:t>
            </a:r>
          </a:p>
        </p:txBody>
      </p:sp>
      <p:sp>
        <p:nvSpPr>
          <p:cNvPr id="37" name="Rectangle 37"/>
          <p:cNvSpPr/>
          <p:nvPr/>
        </p:nvSpPr>
        <p:spPr>
          <a:xfrm>
            <a:off x="8210550" y="2590800"/>
            <a:ext cx="3600450" cy="33528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7E8"/>
            </a:solidFill>
          </a:ln>
        </p:spPr>
      </p:sp>
      <p:sp>
        <p:nvSpPr>
          <p:cNvPr id="38" name="TextBox 38"/>
          <p:cNvSpPr txBox="1"/>
          <p:nvPr/>
        </p:nvSpPr>
        <p:spPr>
          <a:xfrm>
            <a:off x="8492490" y="2796540"/>
            <a:ext cx="1149858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4E79"/>
                </a:solidFill>
                <a:latin typeface="Arial"/>
                <a:ea typeface="Microsoft YaHei"/>
                <a:cs typeface="Arial"/>
              </a:rPr>
              <a:t>阶段价值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8498205" y="3207068"/>
            <a:ext cx="2952369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5B6572"/>
                </a:solidFill>
                <a:latin typeface="Arial"/>
                <a:ea typeface="Microsoft YaHei"/>
                <a:cs typeface="Arial"/>
              </a:rPr>
              <a:t>• 为后续引入传感器、BLE 协同、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8498205" y="3454718"/>
            <a:ext cx="299180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5B6572"/>
                </a:solidFill>
                <a:latin typeface="Arial"/>
                <a:ea typeface="Microsoft YaHei"/>
                <a:cs typeface="Arial"/>
              </a:rPr>
              <a:t>用户研究与产品化验证提供底座。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8498205" y="3740468"/>
            <a:ext cx="276506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5B6572"/>
                </a:solidFill>
                <a:latin typeface="Arial"/>
                <a:ea typeface="Microsoft YaHei"/>
                <a:cs typeface="Arial"/>
              </a:rPr>
              <a:t>• 证明团队具备从需求到实现、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8498205" y="3988118"/>
            <a:ext cx="279463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5B6572"/>
                </a:solidFill>
                <a:latin typeface="Arial"/>
                <a:ea typeface="Microsoft YaHei"/>
                <a:cs typeface="Arial"/>
              </a:rPr>
              <a:t>再到调试验证的完整工程能力。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8498205" y="4273868"/>
            <a:ext cx="315939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5B6572"/>
                </a:solidFill>
                <a:latin typeface="Arial"/>
                <a:ea typeface="Microsoft YaHei"/>
                <a:cs typeface="Arial"/>
              </a:rPr>
              <a:t>• 具备继续深化和迭代的现实基础。</a:t>
            </a:r>
          </a:p>
        </p:txBody>
      </p:sp>
      <p:sp>
        <p:nvSpPr>
          <p:cNvPr id="44" name="Rectangle 44"/>
          <p:cNvSpPr/>
          <p:nvPr/>
        </p:nvSpPr>
        <p:spPr>
          <a:xfrm>
            <a:off x="8515350" y="5353050"/>
            <a:ext cx="1314450" cy="304800"/>
          </a:xfrm>
          <a:prstGeom prst="rect">
            <a:avLst/>
          </a:prstGeom>
          <a:solidFill>
            <a:srgbClr val="EAF1FB"/>
          </a:solidFill>
          <a:ln>
            <a:noFill/>
          </a:ln>
        </p:spPr>
      </p:sp>
      <p:sp>
        <p:nvSpPr>
          <p:cNvPr id="45" name="TextBox 45"/>
          <p:cNvSpPr txBox="1"/>
          <p:nvPr/>
        </p:nvSpPr>
        <p:spPr>
          <a:xfrm>
            <a:off x="8726984" y="5431631"/>
            <a:ext cx="891183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1F4E79"/>
                </a:solidFill>
                <a:latin typeface="Arial"/>
                <a:ea typeface="Microsoft YaHei"/>
                <a:cs typeface="Arial"/>
              </a:rPr>
              <a:t>可持续扩展</a:t>
            </a:r>
          </a:p>
        </p:txBody>
      </p:sp>
      <p:sp>
        <p:nvSpPr>
          <p:cNvPr id="46" name="Line 46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AF1FB"/>
            </a:solidFill>
          </a:ln>
        </p:spPr>
      </p:sp>
      <p:sp>
        <p:nvSpPr>
          <p:cNvPr id="47" name="TextBox 47"/>
          <p:cNvSpPr txBox="1"/>
          <p:nvPr/>
        </p:nvSpPr>
        <p:spPr>
          <a:xfrm>
            <a:off x="369570" y="6522720"/>
            <a:ext cx="291465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D97A5"/>
                </a:solidFill>
                <a:latin typeface="Arial"/>
                <a:ea typeface="Microsoft YaHei"/>
                <a:cs typeface="Arial"/>
              </a:rPr>
              <a:t>数据来源：项目结题报告、仓库实现与上下文资料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5821680" y="6522720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8D97A5"/>
                </a:solidFill>
                <a:latin typeface="Arial"/>
                <a:ea typeface="Microsoft YaHei"/>
                <a:cs typeface="Arial"/>
              </a:rPr>
              <a:t>成果总结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11438477" y="6506528"/>
            <a:ext cx="19535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5B6572"/>
                </a:solidFill>
                <a:latin typeface="Arial"/>
                <a:ea typeface="Microsoft YaHei"/>
                <a:cs typeface="Arial"/>
              </a:rPr>
              <a:t>08</a:t>
            </a:r>
          </a:p>
        </p:txBody>
      </p:sp>
    </p:spTree>
  </p:cSld>
  <p:clrMapOvr>
    <a:masterClrMapping/>
  </p:clrMapOvr>
  <p:transition 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1F4E79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D97A32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54330" y="211455"/>
            <a:ext cx="3402559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08 存在问题与后续展望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947148" y="292418"/>
            <a:ext cx="169049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广州城市理工学院</a:t>
            </a:r>
          </a:p>
        </p:txBody>
      </p:sp>
      <p:sp>
        <p:nvSpPr>
          <p:cNvPr id="7" name="Rectangle 7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AF1FB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D97A32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363855" y="825818"/>
            <a:ext cx="851249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233142"/>
                </a:solidFill>
                <a:latin typeface="Arial"/>
                <a:ea typeface="Microsoft YaHei"/>
                <a:cs typeface="Arial"/>
              </a:rPr>
              <a:t>当前结题已证明核心路线可行，下一阶段重点是把功能做深、把稳定性做实、把用户验证做完整。</a:t>
            </a:r>
          </a:p>
        </p:txBody>
      </p:sp>
      <p:sp>
        <p:nvSpPr>
          <p:cNvPr id="10" name="Rectangle 10"/>
          <p:cNvSpPr/>
          <p:nvPr/>
        </p:nvSpPr>
        <p:spPr>
          <a:xfrm>
            <a:off x="381000" y="1381125"/>
            <a:ext cx="4953000" cy="4714875"/>
          </a:xfrm>
          <a:prstGeom prst="rect">
            <a:avLst/>
          </a:prstGeom>
          <a:solidFill>
            <a:srgbClr val="F8FBFF"/>
          </a:solidFill>
          <a:ln w="9525">
            <a:solidFill>
              <a:srgbClr val="C9D7E8"/>
            </a:solidFill>
          </a:ln>
        </p:spPr>
      </p:sp>
      <p:sp>
        <p:nvSpPr>
          <p:cNvPr id="11" name="TextBox 11"/>
          <p:cNvSpPr txBox="1"/>
          <p:nvPr/>
        </p:nvSpPr>
        <p:spPr>
          <a:xfrm>
            <a:off x="662940" y="1577340"/>
            <a:ext cx="2253996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4E79"/>
                </a:solidFill>
                <a:latin typeface="Arial"/>
                <a:ea typeface="Microsoft YaHei"/>
                <a:cs typeface="Arial"/>
              </a:rPr>
              <a:t>当前仍存在的问题</a:t>
            </a:r>
          </a:p>
        </p:txBody>
      </p:sp>
      <p:sp>
        <p:nvSpPr>
          <p:cNvPr id="12" name="Rectangle 12"/>
          <p:cNvSpPr/>
          <p:nvPr/>
        </p:nvSpPr>
        <p:spPr>
          <a:xfrm>
            <a:off x="685800" y="2076450"/>
            <a:ext cx="4343400" cy="971550"/>
          </a:xfrm>
          <a:prstGeom prst="rect">
            <a:avLst/>
          </a:prstGeom>
          <a:solidFill>
            <a:srgbClr val="FFFFFF"/>
          </a:solidFill>
          <a:ln w="9525">
            <a:solidFill>
              <a:srgbClr val="D7E3F1"/>
            </a:solidFill>
          </a:ln>
        </p:spPr>
      </p:sp>
      <p:sp>
        <p:nvSpPr>
          <p:cNvPr id="13" name="TextBox 13"/>
          <p:cNvSpPr txBox="1"/>
          <p:nvPr/>
        </p:nvSpPr>
        <p:spPr>
          <a:xfrm>
            <a:off x="934402" y="2227421"/>
            <a:ext cx="2691302" cy="289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5" b="1" dirty="0">
                <a:solidFill>
                  <a:srgbClr val="233142"/>
                </a:solidFill>
                <a:latin typeface="Arial"/>
                <a:ea typeface="Microsoft YaHei"/>
                <a:cs typeface="Arial"/>
              </a:rPr>
              <a:t>1. 功能完整度仍有提升空间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36308" y="2510314"/>
            <a:ext cx="6214681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5B6572"/>
                </a:solidFill>
                <a:latin typeface="Arial"/>
                <a:ea typeface="Microsoft YaHei"/>
                <a:cs typeface="Arial"/>
              </a:rPr>
              <a:t>心率、BLE/手机协同、长期低功耗优化等设想尚未在当前仓库中完整落地。</a:t>
            </a:r>
          </a:p>
        </p:txBody>
      </p:sp>
      <p:sp>
        <p:nvSpPr>
          <p:cNvPr id="15" name="Rectangle 15"/>
          <p:cNvSpPr/>
          <p:nvPr/>
        </p:nvSpPr>
        <p:spPr>
          <a:xfrm>
            <a:off x="685800" y="3200400"/>
            <a:ext cx="4343400" cy="971550"/>
          </a:xfrm>
          <a:prstGeom prst="rect">
            <a:avLst/>
          </a:prstGeom>
          <a:solidFill>
            <a:srgbClr val="FFFFFF"/>
          </a:solidFill>
          <a:ln w="9525">
            <a:solidFill>
              <a:srgbClr val="D7E3F1"/>
            </a:solidFill>
          </a:ln>
        </p:spPr>
      </p:sp>
      <p:sp>
        <p:nvSpPr>
          <p:cNvPr id="16" name="TextBox 16"/>
          <p:cNvSpPr txBox="1"/>
          <p:nvPr/>
        </p:nvSpPr>
        <p:spPr>
          <a:xfrm>
            <a:off x="934402" y="3351371"/>
            <a:ext cx="2964461" cy="289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5" b="1" dirty="0">
                <a:solidFill>
                  <a:srgbClr val="233142"/>
                </a:solidFill>
                <a:latin typeface="Arial"/>
                <a:ea typeface="Microsoft YaHei"/>
                <a:cs typeface="Arial"/>
              </a:rPr>
              <a:t>2. 识别类别与数据集仍需扩展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36308" y="3634264"/>
            <a:ext cx="5991225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5B6572"/>
                </a:solidFill>
                <a:latin typeface="Arial"/>
                <a:ea typeface="Microsoft YaHei"/>
                <a:cs typeface="Arial"/>
              </a:rPr>
              <a:t>目前主要聚焦喇叭和警笛，后续还需引入更多真实道路场景与声音类别。</a:t>
            </a:r>
          </a:p>
        </p:txBody>
      </p:sp>
      <p:sp>
        <p:nvSpPr>
          <p:cNvPr id="18" name="Rectangle 18"/>
          <p:cNvSpPr/>
          <p:nvPr/>
        </p:nvSpPr>
        <p:spPr>
          <a:xfrm>
            <a:off x="685800" y="4324350"/>
            <a:ext cx="4343400" cy="971550"/>
          </a:xfrm>
          <a:prstGeom prst="rect">
            <a:avLst/>
          </a:prstGeom>
          <a:solidFill>
            <a:srgbClr val="FFFFFF"/>
          </a:solidFill>
          <a:ln w="9525">
            <a:solidFill>
              <a:srgbClr val="D7E3F1"/>
            </a:solidFill>
          </a:ln>
        </p:spPr>
      </p:sp>
      <p:sp>
        <p:nvSpPr>
          <p:cNvPr id="19" name="TextBox 19"/>
          <p:cNvSpPr txBox="1"/>
          <p:nvPr/>
        </p:nvSpPr>
        <p:spPr>
          <a:xfrm>
            <a:off x="934402" y="4475321"/>
            <a:ext cx="3401516" cy="289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5" b="1" dirty="0">
                <a:solidFill>
                  <a:srgbClr val="233142"/>
                </a:solidFill>
                <a:latin typeface="Arial"/>
                <a:ea typeface="Microsoft YaHei"/>
                <a:cs typeface="Arial"/>
              </a:rPr>
              <a:t>3. 稳定性与用户研究仍需继续完善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36308" y="4758214"/>
            <a:ext cx="6577798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5B6572"/>
                </a:solidFill>
                <a:latin typeface="Arial"/>
                <a:ea typeface="Microsoft YaHei"/>
                <a:cs typeface="Arial"/>
              </a:rPr>
              <a:t>AI 对话弱网表现、长时间运行边界，以及正式用户测试与可用性评价还不充分。</a:t>
            </a:r>
          </a:p>
        </p:txBody>
      </p:sp>
      <p:sp>
        <p:nvSpPr>
          <p:cNvPr id="21" name="Rectangle 21"/>
          <p:cNvSpPr/>
          <p:nvPr/>
        </p:nvSpPr>
        <p:spPr>
          <a:xfrm>
            <a:off x="5619750" y="1381125"/>
            <a:ext cx="6191250" cy="4714875"/>
          </a:xfrm>
          <a:prstGeom prst="rect">
            <a:avLst/>
          </a:prstGeom>
          <a:solidFill>
            <a:srgbClr val="FFFFFF"/>
          </a:solidFill>
          <a:ln w="9525">
            <a:solidFill>
              <a:srgbClr val="C9D7E8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5901690" y="1577340"/>
            <a:ext cx="1149858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4E79"/>
                </a:solidFill>
                <a:latin typeface="Arial"/>
                <a:ea typeface="Microsoft YaHei"/>
                <a:cs typeface="Arial"/>
              </a:rPr>
              <a:t>后续展望</a:t>
            </a:r>
          </a:p>
        </p:txBody>
      </p:sp>
      <p:sp>
        <p:nvSpPr>
          <p:cNvPr id="23" name="Line 23"/>
          <p:cNvSpPr/>
          <p:nvPr/>
        </p:nvSpPr>
        <p:spPr>
          <a:xfrm>
            <a:off x="6667500" y="2247900"/>
            <a:ext cx="9525" cy="3009900"/>
          </a:xfrm>
          <a:custGeom>
            <a:avLst/>
            <a:gdLst/>
            <a:ahLst/>
            <a:cxnLst/>
            <a:rect l="l" t="t" r="r" b="b"/>
            <a:pathLst>
              <a:path w="9525" h="3009900">
                <a:moveTo>
                  <a:pt x="0" y="0"/>
                </a:moveTo>
                <a:lnTo>
                  <a:pt x="0" y="3009900"/>
                </a:lnTo>
              </a:path>
            </a:pathLst>
          </a:custGeom>
          <a:noFill/>
          <a:ln w="38100">
            <a:solidFill>
              <a:srgbClr val="5B8FD9"/>
            </a:solidFill>
          </a:ln>
        </p:spPr>
      </p:sp>
      <p:sp>
        <p:nvSpPr>
          <p:cNvPr id="24" name="Ellipse 24"/>
          <p:cNvSpPr/>
          <p:nvPr/>
        </p:nvSpPr>
        <p:spPr>
          <a:xfrm>
            <a:off x="6534150" y="2305050"/>
            <a:ext cx="266700" cy="266700"/>
          </a:xfrm>
          <a:prstGeom prst="ellipse">
            <a:avLst/>
          </a:prstGeom>
          <a:solidFill>
            <a:srgbClr val="1F4E79"/>
          </a:solidFill>
          <a:ln>
            <a:noFill/>
          </a:ln>
        </p:spPr>
      </p:sp>
      <p:sp>
        <p:nvSpPr>
          <p:cNvPr id="25" name="Ellipse 25"/>
          <p:cNvSpPr/>
          <p:nvPr/>
        </p:nvSpPr>
        <p:spPr>
          <a:xfrm>
            <a:off x="6534150" y="3619500"/>
            <a:ext cx="266700" cy="266700"/>
          </a:xfrm>
          <a:prstGeom prst="ellipse">
            <a:avLst/>
          </a:prstGeom>
          <a:solidFill>
            <a:srgbClr val="D97A32"/>
          </a:solidFill>
          <a:ln>
            <a:noFill/>
          </a:ln>
        </p:spPr>
      </p:sp>
      <p:sp>
        <p:nvSpPr>
          <p:cNvPr id="26" name="Ellipse 26"/>
          <p:cNvSpPr/>
          <p:nvPr/>
        </p:nvSpPr>
        <p:spPr>
          <a:xfrm>
            <a:off x="6534150" y="4933950"/>
            <a:ext cx="266700" cy="266700"/>
          </a:xfrm>
          <a:prstGeom prst="ellipse">
            <a:avLst/>
          </a:prstGeom>
          <a:solidFill>
            <a:srgbClr val="5B8FD9"/>
          </a:solidFill>
          <a:ln>
            <a:noFill/>
          </a:ln>
        </p:spPr>
      </p:sp>
      <p:sp>
        <p:nvSpPr>
          <p:cNvPr id="27" name="Rectangle 27"/>
          <p:cNvSpPr/>
          <p:nvPr/>
        </p:nvSpPr>
        <p:spPr>
          <a:xfrm>
            <a:off x="7048500" y="2057400"/>
            <a:ext cx="4286250" cy="781050"/>
          </a:xfrm>
          <a:prstGeom prst="rect">
            <a:avLst/>
          </a:prstGeom>
          <a:solidFill>
            <a:srgbClr val="F8FBFF"/>
          </a:solidFill>
          <a:ln w="9525">
            <a:solidFill>
              <a:srgbClr val="D7E3F1"/>
            </a:solidFill>
          </a:ln>
        </p:spPr>
      </p:sp>
      <p:sp>
        <p:nvSpPr>
          <p:cNvPr id="28" name="TextBox 28"/>
          <p:cNvSpPr txBox="1"/>
          <p:nvPr/>
        </p:nvSpPr>
        <p:spPr>
          <a:xfrm>
            <a:off x="7316152" y="2208371"/>
            <a:ext cx="2877050" cy="289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5" b="1" dirty="0">
                <a:solidFill>
                  <a:srgbClr val="233142"/>
                </a:solidFill>
                <a:latin typeface="Arial"/>
                <a:ea typeface="Microsoft YaHei"/>
                <a:cs typeface="Arial"/>
              </a:rPr>
              <a:t>阶段一：补强感知与通信能力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7319010" y="2442210"/>
            <a:ext cx="294855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B6572"/>
                </a:solidFill>
                <a:latin typeface="Arial"/>
                <a:ea typeface="Microsoft YaHei"/>
                <a:cs typeface="Arial"/>
              </a:rPr>
              <a:t>扩展声音类别，继续引入传感器、BLE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7319010" y="2651760"/>
            <a:ext cx="178308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B6572"/>
                </a:solidFill>
                <a:latin typeface="Arial"/>
                <a:ea typeface="Microsoft YaHei"/>
                <a:cs typeface="Arial"/>
              </a:rPr>
              <a:t>和更多外围联动能力。</a:t>
            </a:r>
          </a:p>
        </p:txBody>
      </p:sp>
      <p:sp>
        <p:nvSpPr>
          <p:cNvPr id="31" name="Rectangle 31"/>
          <p:cNvSpPr/>
          <p:nvPr/>
        </p:nvSpPr>
        <p:spPr>
          <a:xfrm>
            <a:off x="7048500" y="3371850"/>
            <a:ext cx="4286250" cy="781050"/>
          </a:xfrm>
          <a:prstGeom prst="rect">
            <a:avLst/>
          </a:prstGeom>
          <a:solidFill>
            <a:srgbClr val="FFF8F2"/>
          </a:solidFill>
          <a:ln w="9525">
            <a:solidFill>
              <a:srgbClr val="F1C7A8"/>
            </a:solidFill>
          </a:ln>
        </p:spPr>
      </p:sp>
      <p:sp>
        <p:nvSpPr>
          <p:cNvPr id="32" name="TextBox 32"/>
          <p:cNvSpPr txBox="1"/>
          <p:nvPr/>
        </p:nvSpPr>
        <p:spPr>
          <a:xfrm>
            <a:off x="7316152" y="3522821"/>
            <a:ext cx="3095577" cy="289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5" b="1" dirty="0">
                <a:solidFill>
                  <a:srgbClr val="233142"/>
                </a:solidFill>
                <a:latin typeface="Arial"/>
                <a:ea typeface="Microsoft YaHei"/>
                <a:cs typeface="Arial"/>
              </a:rPr>
              <a:t>阶段二：补强稳定性与功耗验证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7319010" y="3756660"/>
            <a:ext cx="283464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B6572"/>
                </a:solidFill>
                <a:latin typeface="Arial"/>
                <a:ea typeface="Microsoft YaHei"/>
                <a:cs typeface="Arial"/>
              </a:rPr>
              <a:t>优化网络异常恢复、长时间运行表现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7319010" y="3966210"/>
            <a:ext cx="283464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B6572"/>
                </a:solidFill>
                <a:latin typeface="Arial"/>
                <a:ea typeface="Microsoft YaHei"/>
                <a:cs typeface="Arial"/>
              </a:rPr>
              <a:t>和低功耗策略，形成更稳定的样机。</a:t>
            </a:r>
          </a:p>
        </p:txBody>
      </p:sp>
      <p:sp>
        <p:nvSpPr>
          <p:cNvPr id="35" name="Rectangle 35"/>
          <p:cNvSpPr/>
          <p:nvPr/>
        </p:nvSpPr>
        <p:spPr>
          <a:xfrm>
            <a:off x="7048500" y="4686300"/>
            <a:ext cx="4286250" cy="781050"/>
          </a:xfrm>
          <a:prstGeom prst="rect">
            <a:avLst/>
          </a:prstGeom>
          <a:solidFill>
            <a:srgbClr val="EAF1FB"/>
          </a:solidFill>
          <a:ln w="9525">
            <a:solidFill>
              <a:srgbClr val="C9D7E8"/>
            </a:solidFill>
          </a:ln>
        </p:spPr>
      </p:sp>
      <p:sp>
        <p:nvSpPr>
          <p:cNvPr id="36" name="TextBox 36"/>
          <p:cNvSpPr txBox="1"/>
          <p:nvPr/>
        </p:nvSpPr>
        <p:spPr>
          <a:xfrm>
            <a:off x="7316152" y="4837271"/>
            <a:ext cx="3314105" cy="289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5" b="1" dirty="0">
                <a:solidFill>
                  <a:srgbClr val="233142"/>
                </a:solidFill>
                <a:latin typeface="Arial"/>
                <a:ea typeface="Microsoft YaHei"/>
                <a:cs typeface="Arial"/>
              </a:rPr>
              <a:t>阶段三：补强用户研究与成果沉淀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7319010" y="5071110"/>
            <a:ext cx="283464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B6572"/>
                </a:solidFill>
                <a:latin typeface="Arial"/>
                <a:ea typeface="Microsoft YaHei"/>
                <a:cs typeface="Arial"/>
              </a:rPr>
              <a:t>组织真实用户测试，完善演示材料，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7319010" y="5280660"/>
            <a:ext cx="248412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B6572"/>
                </a:solidFill>
                <a:latin typeface="Arial"/>
                <a:ea typeface="Microsoft YaHei"/>
                <a:cs typeface="Arial"/>
              </a:rPr>
              <a:t>并推进软著、专利等成果整理。</a:t>
            </a:r>
          </a:p>
        </p:txBody>
      </p:sp>
      <p:sp>
        <p:nvSpPr>
          <p:cNvPr id="39" name="Rectangle 39"/>
          <p:cNvSpPr/>
          <p:nvPr/>
        </p:nvSpPr>
        <p:spPr>
          <a:xfrm>
            <a:off x="5924550" y="5619750"/>
            <a:ext cx="5410200" cy="323850"/>
          </a:xfrm>
          <a:prstGeom prst="rect">
            <a:avLst/>
          </a:prstGeom>
          <a:solidFill>
            <a:srgbClr val="1F4E79"/>
          </a:solidFill>
          <a:ln>
            <a:noFill/>
          </a:ln>
        </p:spPr>
      </p:sp>
      <p:sp>
        <p:nvSpPr>
          <p:cNvPr id="40" name="TextBox 40"/>
          <p:cNvSpPr txBox="1"/>
          <p:nvPr/>
        </p:nvSpPr>
        <p:spPr>
          <a:xfrm>
            <a:off x="6498145" y="5699760"/>
            <a:ext cx="426300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当前项目已经具备继续深化和产品化验证的工程基础</a:t>
            </a:r>
          </a:p>
        </p:txBody>
      </p:sp>
      <p:sp>
        <p:nvSpPr>
          <p:cNvPr id="41" name="Line 4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AF1FB"/>
            </a:solidFill>
          </a:ln>
        </p:spPr>
      </p:sp>
      <p:sp>
        <p:nvSpPr>
          <p:cNvPr id="42" name="TextBox 42"/>
          <p:cNvSpPr txBox="1"/>
          <p:nvPr/>
        </p:nvSpPr>
        <p:spPr>
          <a:xfrm>
            <a:off x="369570" y="6522720"/>
            <a:ext cx="344043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D97A5"/>
                </a:solidFill>
                <a:latin typeface="Arial"/>
                <a:ea typeface="Microsoft YaHei"/>
                <a:cs typeface="Arial"/>
              </a:rPr>
              <a:t>数据来源：项目结题报告中的问题与建议、项目上下文文档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5821680" y="6522720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8D97A5"/>
                </a:solidFill>
                <a:latin typeface="Arial"/>
                <a:ea typeface="Microsoft YaHei"/>
                <a:cs typeface="Arial"/>
              </a:rPr>
              <a:t>后续展望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11438477" y="6506528"/>
            <a:ext cx="19535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5B6572"/>
                </a:solidFill>
                <a:latin typeface="Arial"/>
                <a:ea typeface="Microsoft YaHei"/>
                <a:cs typeface="Arial"/>
              </a:rPr>
              <a:t>09</a:t>
            </a:r>
          </a:p>
        </p:txBody>
      </p:sp>
    </p:spTree>
  </p:cSld>
  <p:clrMapOvr>
    <a:masterClrMapping/>
  </p:clrMapOvr>
  <p:transition 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